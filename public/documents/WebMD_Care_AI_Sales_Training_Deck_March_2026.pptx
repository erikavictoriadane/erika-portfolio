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3"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5143500" cx="9144000"/>
  <p:notesSz cx="6858000" cy="9144000"/>
  <p:embeddedFontLst>
    <p:embeddedFont>
      <p:font typeface="Roboto Condensed"/>
      <p:regular r:id="rId20"/>
      <p:bold r:id="rId21"/>
      <p:italic r:id="rId22"/>
      <p:boldItalic r:id="rId23"/>
    </p:embeddedFont>
    <p:embeddedFont>
      <p:font typeface="Roboto Condensed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Condensed-regular.fntdata"/><Relationship Id="rId22" Type="http://schemas.openxmlformats.org/officeDocument/2006/relationships/font" Target="fonts/RobotoCondensed-italic.fntdata"/><Relationship Id="rId21" Type="http://schemas.openxmlformats.org/officeDocument/2006/relationships/font" Target="fonts/RobotoCondensed-bold.fntdata"/><Relationship Id="rId24" Type="http://schemas.openxmlformats.org/officeDocument/2006/relationships/font" Target="fonts/RobotoCondensedLight-regular.fntdata"/><Relationship Id="rId23" Type="http://schemas.openxmlformats.org/officeDocument/2006/relationships/font" Target="fonts/RobotoCondense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CondensedLight-italic.fntdata"/><Relationship Id="rId25" Type="http://schemas.openxmlformats.org/officeDocument/2006/relationships/font" Target="fonts/RobotoCondensedLight-bold.fntdata"/><Relationship Id="rId27" Type="http://schemas.openxmlformats.org/officeDocument/2006/relationships/font" Target="fonts/RobotoCondensedLight-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Today I’m going to walk you through what’s changing in patient search behavior. Specifically how AI is now influencing discovery and decision-making and how we pivot our messaging to position WebMD Care as an </a:t>
            </a:r>
            <a:r>
              <a:rPr b="1" lang="en"/>
              <a:t>AI visibility solution</a:t>
            </a:r>
            <a:r>
              <a:rPr lang="en"/>
              <a:t>.</a:t>
            </a:r>
            <a:endParaRPr/>
          </a:p>
          <a:p>
            <a:pPr indent="0" lvl="0" marL="0" rtl="0" algn="l">
              <a:lnSpc>
                <a:spcPct val="115000"/>
              </a:lnSpc>
              <a:spcBef>
                <a:spcPts val="1200"/>
              </a:spcBef>
              <a:spcAft>
                <a:spcPts val="0"/>
              </a:spcAft>
              <a:buClr>
                <a:schemeClr val="dk1"/>
              </a:buClr>
              <a:buSzPts val="1100"/>
              <a:buFont typeface="Arial"/>
              <a:buNone/>
            </a:pPr>
            <a:r>
              <a:rPr b="1" lang="en"/>
              <a:t>So, this is about reframing what we already sell for how patients actually search in 2026.</a:t>
            </a:r>
            <a:endParaRPr b="1"/>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solidFill>
                  <a:schemeClr val="dk1"/>
                </a:solidFill>
              </a:rPr>
              <a:t>First, let’s talk about where the market is shifting.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Google still dominates traditional search, but the ‘search pie’ is no longer just Google.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AI assistants are becoming the </a:t>
            </a:r>
            <a:r>
              <a:rPr b="1" lang="en">
                <a:solidFill>
                  <a:schemeClr val="dk1"/>
                </a:solidFill>
              </a:rPr>
              <a:t>entry point</a:t>
            </a:r>
            <a:r>
              <a:rPr lang="en">
                <a:solidFill>
                  <a:schemeClr val="dk1"/>
                </a:solidFill>
              </a:rPr>
              <a:t> for health questions.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ChatGPT alone handles </a:t>
            </a:r>
            <a:r>
              <a:rPr b="1" lang="en">
                <a:solidFill>
                  <a:schemeClr val="dk1"/>
                </a:solidFill>
              </a:rPr>
              <a:t>1 billion interactions per day.</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It holds 64.5% of AI assistant market share.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Gemini is integrated directly into mobile.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Perplexity, Claude, Grok — these are capturing high-intent knowledge queries.</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key shift is:</a:t>
            </a:r>
            <a:br>
              <a:rPr lang="en">
                <a:solidFill>
                  <a:schemeClr val="dk1"/>
                </a:solidFill>
              </a:rPr>
            </a:br>
            <a:r>
              <a:rPr lang="en">
                <a:solidFill>
                  <a:schemeClr val="dk1"/>
                </a:solidFill>
              </a:rPr>
              <a:t>Patients aren’t starting with links.</a:t>
            </a:r>
            <a:br>
              <a:rPr lang="en">
                <a:solidFill>
                  <a:schemeClr val="dk1"/>
                </a:solidFill>
              </a:rPr>
            </a:br>
            <a:r>
              <a:rPr lang="en">
                <a:solidFill>
                  <a:schemeClr val="dk1"/>
                </a:solidFill>
              </a:rPr>
              <a:t>They’re starting with answers.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of course, this changes how visibility works.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OpenAI reports 40 million people use ChatGPT daily for healthcare questions.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More importantly: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26% of patients say AI recommendations directly influenced their provider choice.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That nearly matches: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Primary care referrals at 28%</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And Review sites at 29%</a:t>
            </a:r>
            <a:br>
              <a:rPr lang="en">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88% of health searches now trigger AI Overviews.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AI isn’t experimental anymore.</a:t>
            </a:r>
            <a:br>
              <a:rPr lang="en">
                <a:solidFill>
                  <a:schemeClr val="dk1"/>
                </a:solidFill>
              </a:rPr>
            </a:br>
            <a:r>
              <a:rPr lang="en">
                <a:solidFill>
                  <a:schemeClr val="dk1"/>
                </a:solidFill>
              </a:rPr>
              <a:t>It’s sitting alongside referrals and reviews as a </a:t>
            </a:r>
            <a:r>
              <a:rPr b="1" lang="en">
                <a:solidFill>
                  <a:schemeClr val="dk1"/>
                </a:solidFill>
              </a:rPr>
              <a:t>primary influence</a:t>
            </a:r>
            <a:r>
              <a:rPr lang="en">
                <a:solidFill>
                  <a:schemeClr val="dk1"/>
                </a:solidFill>
              </a:rPr>
              <a:t>.</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There are now health-specific AI tools:</a:t>
            </a:r>
            <a:endParaRPr/>
          </a:p>
          <a:p>
            <a:pPr indent="-298450" lvl="0" marL="457200" rtl="0" algn="l">
              <a:lnSpc>
                <a:spcPct val="115000"/>
              </a:lnSpc>
              <a:spcBef>
                <a:spcPts val="1200"/>
              </a:spcBef>
              <a:spcAft>
                <a:spcPts val="0"/>
              </a:spcAft>
              <a:buClr>
                <a:schemeClr val="dk1"/>
              </a:buClr>
              <a:buSzPts val="1100"/>
              <a:buChar char="●"/>
            </a:pPr>
            <a:r>
              <a:rPr lang="en"/>
              <a:t>ChatGPT Health</a:t>
            </a:r>
            <a:br>
              <a:rPr lang="en"/>
            </a:br>
            <a:endParaRPr/>
          </a:p>
          <a:p>
            <a:pPr indent="-298450" lvl="0" marL="457200" rtl="0" algn="l">
              <a:lnSpc>
                <a:spcPct val="115000"/>
              </a:lnSpc>
              <a:spcBef>
                <a:spcPts val="0"/>
              </a:spcBef>
              <a:spcAft>
                <a:spcPts val="0"/>
              </a:spcAft>
              <a:buClr>
                <a:schemeClr val="dk1"/>
              </a:buClr>
              <a:buSzPts val="1100"/>
              <a:buChar char="●"/>
            </a:pPr>
            <a:r>
              <a:rPr lang="en"/>
              <a:t>MedGemma from Google</a:t>
            </a:r>
            <a:br>
              <a:rPr lang="en"/>
            </a:br>
            <a:endParaRPr/>
          </a:p>
          <a:p>
            <a:pPr indent="-298450" lvl="0" marL="457200" rtl="0" algn="l">
              <a:lnSpc>
                <a:spcPct val="115000"/>
              </a:lnSpc>
              <a:spcBef>
                <a:spcPts val="0"/>
              </a:spcBef>
              <a:spcAft>
                <a:spcPts val="0"/>
              </a:spcAft>
              <a:buClr>
                <a:schemeClr val="dk1"/>
              </a:buClr>
              <a:buSzPts val="1100"/>
              <a:buChar char="●"/>
            </a:pPr>
            <a:r>
              <a:rPr lang="en"/>
              <a:t>OpenEvidence, which is used by about 40% of US physicians</a:t>
            </a:r>
            <a:br>
              <a:rPr lang="en"/>
            </a:br>
            <a:endParaRPr/>
          </a:p>
          <a:p>
            <a:pPr indent="0" lvl="0" marL="0" rtl="0" algn="l">
              <a:lnSpc>
                <a:spcPct val="115000"/>
              </a:lnSpc>
              <a:spcBef>
                <a:spcPts val="1200"/>
              </a:spcBef>
              <a:spcAft>
                <a:spcPts val="0"/>
              </a:spcAft>
              <a:buClr>
                <a:schemeClr val="dk1"/>
              </a:buClr>
              <a:buSzPts val="1100"/>
              <a:buFont typeface="Arial"/>
              <a:buNone/>
            </a:pPr>
            <a:r>
              <a:rPr lang="en"/>
              <a:t>These models are built to minimize clinical risk.</a:t>
            </a:r>
            <a:endParaRPr/>
          </a:p>
          <a:p>
            <a:pPr indent="0" lvl="0" marL="0" rtl="0" algn="l">
              <a:lnSpc>
                <a:spcPct val="115000"/>
              </a:lnSpc>
              <a:spcBef>
                <a:spcPts val="1200"/>
              </a:spcBef>
              <a:spcAft>
                <a:spcPts val="0"/>
              </a:spcAft>
              <a:buClr>
                <a:schemeClr val="dk1"/>
              </a:buClr>
              <a:buSzPts val="1100"/>
              <a:buFont typeface="Arial"/>
              <a:buNone/>
            </a:pPr>
            <a:r>
              <a:rPr lang="en"/>
              <a:t>And they don’t just guess.</a:t>
            </a:r>
            <a:endParaRPr/>
          </a:p>
          <a:p>
            <a:pPr indent="0" lvl="0" marL="0" rtl="0" algn="l">
              <a:lnSpc>
                <a:spcPct val="115000"/>
              </a:lnSpc>
              <a:spcBef>
                <a:spcPts val="1200"/>
              </a:spcBef>
              <a:spcAft>
                <a:spcPts val="0"/>
              </a:spcAft>
              <a:buClr>
                <a:schemeClr val="dk1"/>
              </a:buClr>
              <a:buSzPts val="1100"/>
              <a:buFont typeface="Arial"/>
              <a:buNone/>
            </a:pPr>
            <a:r>
              <a:rPr lang="en"/>
              <a:t>They crawl trusted, authoritative medical sources, including WebMD.</a:t>
            </a:r>
            <a:endParaRPr/>
          </a:p>
          <a:p>
            <a:pPr indent="0" lvl="0" marL="0" rtl="0" algn="l">
              <a:lnSpc>
                <a:spcPct val="115000"/>
              </a:lnSpc>
              <a:spcBef>
                <a:spcPts val="1200"/>
              </a:spcBef>
              <a:spcAft>
                <a:spcPts val="0"/>
              </a:spcAft>
              <a:buClr>
                <a:schemeClr val="dk1"/>
              </a:buClr>
              <a:buSzPts val="1100"/>
              <a:buFont typeface="Arial"/>
              <a:buNone/>
            </a:pPr>
            <a:r>
              <a:rPr lang="en"/>
              <a:t>So, here’s the important message for sales calls:</a:t>
            </a:r>
            <a:endParaRPr/>
          </a:p>
          <a:p>
            <a:pPr indent="0" lvl="0" marL="0" rtl="0" algn="l">
              <a:lnSpc>
                <a:spcPct val="115000"/>
              </a:lnSpc>
              <a:spcBef>
                <a:spcPts val="1200"/>
              </a:spcBef>
              <a:spcAft>
                <a:spcPts val="0"/>
              </a:spcAft>
              <a:buClr>
                <a:schemeClr val="dk1"/>
              </a:buClr>
              <a:buSzPts val="1100"/>
              <a:buFont typeface="Arial"/>
              <a:buNone/>
            </a:pPr>
            <a:r>
              <a:rPr lang="en"/>
              <a:t>If a physician is not present in authoritative directories, the AI cannot safely recommend them.</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t>So, here’s the behavioral shift.</a:t>
            </a:r>
            <a:endParaRPr b="1"/>
          </a:p>
          <a:p>
            <a:pPr indent="0" lvl="0" marL="0" rtl="0" algn="l">
              <a:lnSpc>
                <a:spcPct val="115000"/>
              </a:lnSpc>
              <a:spcBef>
                <a:spcPts val="1200"/>
              </a:spcBef>
              <a:spcAft>
                <a:spcPts val="0"/>
              </a:spcAft>
              <a:buClr>
                <a:schemeClr val="dk1"/>
              </a:buClr>
              <a:buSzPts val="1100"/>
              <a:buFont typeface="Arial"/>
              <a:buNone/>
            </a:pPr>
            <a:r>
              <a:rPr lang="en"/>
              <a:t>The old way was when:</a:t>
            </a:r>
            <a:br>
              <a:rPr lang="en"/>
            </a:br>
            <a:r>
              <a:rPr lang="en"/>
              <a:t>A patient types ‘Dermatologist Dallas.’ They scroll through and skim links. They click. Maybe they go back and scroll through more links and click again, and that could repeat.</a:t>
            </a:r>
            <a:endParaRPr/>
          </a:p>
          <a:p>
            <a:pPr indent="0" lvl="0" marL="0" rtl="0" algn="l">
              <a:lnSpc>
                <a:spcPct val="115000"/>
              </a:lnSpc>
              <a:spcBef>
                <a:spcPts val="1200"/>
              </a:spcBef>
              <a:spcAft>
                <a:spcPts val="0"/>
              </a:spcAft>
              <a:buClr>
                <a:schemeClr val="dk1"/>
              </a:buClr>
              <a:buSzPts val="1100"/>
              <a:buFont typeface="Arial"/>
              <a:buNone/>
            </a:pPr>
            <a:r>
              <a:rPr lang="en"/>
              <a:t>Now, the new way is:</a:t>
            </a:r>
            <a:br>
              <a:rPr lang="en"/>
            </a:br>
            <a:r>
              <a:rPr lang="en"/>
              <a:t>A patient opens and AI assistant like Gemini or ChatGPT and asks  ‘Who’s the best pediatrician in my area for asthma who offers same-day appointments?’</a:t>
            </a:r>
            <a:endParaRPr/>
          </a:p>
          <a:p>
            <a:pPr indent="0" lvl="0" marL="0" rtl="0" algn="l">
              <a:lnSpc>
                <a:spcPct val="115000"/>
              </a:lnSpc>
              <a:spcBef>
                <a:spcPts val="1200"/>
              </a:spcBef>
              <a:spcAft>
                <a:spcPts val="0"/>
              </a:spcAft>
              <a:buClr>
                <a:schemeClr val="dk1"/>
              </a:buClr>
              <a:buSzPts val="1100"/>
              <a:buFont typeface="Arial"/>
              <a:buNone/>
            </a:pPr>
            <a:r>
              <a:rPr lang="en"/>
              <a:t>AI interprets intent and nuance.</a:t>
            </a:r>
            <a:endParaRPr/>
          </a:p>
          <a:p>
            <a:pPr indent="0" lvl="0" marL="0" rtl="0" algn="l">
              <a:lnSpc>
                <a:spcPct val="115000"/>
              </a:lnSpc>
              <a:spcBef>
                <a:spcPts val="1200"/>
              </a:spcBef>
              <a:spcAft>
                <a:spcPts val="0"/>
              </a:spcAft>
              <a:buClr>
                <a:schemeClr val="dk1"/>
              </a:buClr>
              <a:buSzPts val="1100"/>
              <a:buFont typeface="Arial"/>
              <a:buNone/>
            </a:pPr>
            <a:r>
              <a:rPr lang="en"/>
              <a:t>And it doesn’t just match keyword. It synthesizes.</a:t>
            </a:r>
            <a:endParaRPr/>
          </a:p>
          <a:p>
            <a:pPr indent="0" lvl="0" marL="0" rtl="0" algn="l">
              <a:lnSpc>
                <a:spcPct val="115000"/>
              </a:lnSpc>
              <a:spcBef>
                <a:spcPts val="1200"/>
              </a:spcBef>
              <a:spcAft>
                <a:spcPts val="0"/>
              </a:spcAft>
              <a:buClr>
                <a:schemeClr val="dk1"/>
              </a:buClr>
              <a:buSzPts val="1100"/>
              <a:buFont typeface="Arial"/>
              <a:buNone/>
            </a:pPr>
            <a:r>
              <a:rPr lang="en"/>
              <a:t>If a physician’s information isn’t structured to answer these nuanced queries, the physician remains invisible.</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Patients now get answers before they ever see a website.</a:t>
            </a:r>
            <a:endParaRPr/>
          </a:p>
          <a:p>
            <a:pPr indent="0" lvl="0" marL="0" rtl="0" algn="l">
              <a:lnSpc>
                <a:spcPct val="115000"/>
              </a:lnSpc>
              <a:spcBef>
                <a:spcPts val="1200"/>
              </a:spcBef>
              <a:spcAft>
                <a:spcPts val="0"/>
              </a:spcAft>
              <a:buClr>
                <a:schemeClr val="dk1"/>
              </a:buClr>
              <a:buSzPts val="1100"/>
              <a:buFont typeface="Arial"/>
              <a:buNone/>
            </a:pPr>
            <a:r>
              <a:rPr lang="en"/>
              <a:t>Visibility is no longer just ranking.</a:t>
            </a:r>
            <a:endParaRPr/>
          </a:p>
          <a:p>
            <a:pPr indent="0" lvl="0" marL="0" rtl="0" algn="l">
              <a:lnSpc>
                <a:spcPct val="115000"/>
              </a:lnSpc>
              <a:spcBef>
                <a:spcPts val="1200"/>
              </a:spcBef>
              <a:spcAft>
                <a:spcPts val="0"/>
              </a:spcAft>
              <a:buClr>
                <a:schemeClr val="dk1"/>
              </a:buClr>
              <a:buSzPts val="1100"/>
              <a:buFont typeface="Arial"/>
              <a:buNone/>
            </a:pPr>
            <a:r>
              <a:rPr lang="en"/>
              <a:t>It’s being included in the AI synthesis.</a:t>
            </a:r>
            <a:endParaRPr/>
          </a:p>
          <a:p>
            <a:pPr indent="0" lvl="0" marL="0" rtl="0" algn="l">
              <a:lnSpc>
                <a:spcPct val="115000"/>
              </a:lnSpc>
              <a:spcBef>
                <a:spcPts val="1200"/>
              </a:spcBef>
              <a:spcAft>
                <a:spcPts val="0"/>
              </a:spcAft>
              <a:buClr>
                <a:schemeClr val="dk1"/>
              </a:buClr>
              <a:buSzPts val="1100"/>
              <a:buFont typeface="Arial"/>
              <a:buNone/>
            </a:pPr>
            <a:r>
              <a:rPr lang="en"/>
              <a:t>AI summarizes three core signals:</a:t>
            </a:r>
            <a:endParaRPr/>
          </a:p>
          <a:p>
            <a:pPr indent="-298450" lvl="0" marL="457200" rtl="0" algn="l">
              <a:lnSpc>
                <a:spcPct val="115000"/>
              </a:lnSpc>
              <a:spcBef>
                <a:spcPts val="1200"/>
              </a:spcBef>
              <a:spcAft>
                <a:spcPts val="0"/>
              </a:spcAft>
              <a:buClr>
                <a:schemeClr val="dk1"/>
              </a:buClr>
              <a:buSzPts val="1100"/>
              <a:buAutoNum type="arabicPeriod"/>
            </a:pPr>
            <a:r>
              <a:rPr lang="en"/>
              <a:t>Credentials</a:t>
            </a:r>
            <a:br>
              <a:rPr lang="en"/>
            </a:br>
            <a:endParaRPr/>
          </a:p>
          <a:p>
            <a:pPr indent="-298450" lvl="0" marL="457200" rtl="0" algn="l">
              <a:lnSpc>
                <a:spcPct val="115000"/>
              </a:lnSpc>
              <a:spcBef>
                <a:spcPts val="0"/>
              </a:spcBef>
              <a:spcAft>
                <a:spcPts val="0"/>
              </a:spcAft>
              <a:buClr>
                <a:schemeClr val="dk1"/>
              </a:buClr>
              <a:buSzPts val="1100"/>
              <a:buAutoNum type="arabicPeriod"/>
            </a:pPr>
            <a:r>
              <a:rPr lang="en"/>
              <a:t>Real-time availability</a:t>
            </a:r>
            <a:br>
              <a:rPr lang="en"/>
            </a:br>
            <a:endParaRPr/>
          </a:p>
          <a:p>
            <a:pPr indent="-298450" lvl="0" marL="457200" rtl="0" algn="l">
              <a:lnSpc>
                <a:spcPct val="115000"/>
              </a:lnSpc>
              <a:spcBef>
                <a:spcPts val="0"/>
              </a:spcBef>
              <a:spcAft>
                <a:spcPts val="0"/>
              </a:spcAft>
              <a:buClr>
                <a:schemeClr val="dk1"/>
              </a:buClr>
              <a:buSzPts val="1100"/>
              <a:buAutoNum type="arabicPeriod"/>
            </a:pPr>
            <a:r>
              <a:rPr lang="en"/>
              <a:t>Review consensus</a:t>
            </a:r>
            <a:br>
              <a:rPr lang="en"/>
            </a:br>
            <a:endParaRPr/>
          </a:p>
          <a:p>
            <a:pPr indent="0" lvl="0" marL="0" rtl="0" algn="l">
              <a:lnSpc>
                <a:spcPct val="115000"/>
              </a:lnSpc>
              <a:spcBef>
                <a:spcPts val="1200"/>
              </a:spcBef>
              <a:spcAft>
                <a:spcPts val="0"/>
              </a:spcAft>
              <a:buClr>
                <a:schemeClr val="dk1"/>
              </a:buClr>
              <a:buSzPts val="1100"/>
              <a:buFont typeface="Arial"/>
              <a:buNone/>
            </a:pPr>
            <a:r>
              <a:rPr lang="en"/>
              <a:t>If those signals are not structured and accessible, the AI chooses someone else.</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This is where we at WebMD Care pivot our positioning.</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AI visibility is about being </a:t>
            </a:r>
            <a:r>
              <a:rPr b="1" lang="en">
                <a:solidFill>
                  <a:schemeClr val="dk1"/>
                </a:solidFill>
              </a:rPr>
              <a:t>Found AND Chosen.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And this is exactly what WebMD Care Directories does - it provides both visibility and patient lead generation.</a:t>
            </a:r>
            <a:endParaRPr b="1">
              <a:solidFill>
                <a:schemeClr val="dk1"/>
              </a:solidFill>
            </a:endParaRPr>
          </a:p>
          <a:p>
            <a:pPr indent="0" lvl="0" marL="0" rtl="0" algn="l">
              <a:lnSpc>
                <a:spcPct val="115000"/>
              </a:lnSpc>
              <a:spcBef>
                <a:spcPts val="1200"/>
              </a:spcBef>
              <a:spcAft>
                <a:spcPts val="0"/>
              </a:spcAft>
              <a:buSzPts val="1100"/>
              <a:buNone/>
            </a:pPr>
            <a:r>
              <a:rPr lang="en">
                <a:solidFill>
                  <a:schemeClr val="dk1"/>
                </a:solidFill>
              </a:rPr>
              <a:t>And today, being found means showing up in AI answers. And AI learns who a physician is through:</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Authority mentions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Citations across other sites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of course, that includes WebMD Featured Profiles because they provide that structured data AI looks for.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From there, the patient may book based on structured signals provided by the WebMD profile, like availability, location, and reviews being shown. So now, the physician is both found and chosen, thanks to the support of their Featured Profile.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line you might use in your conversations with physicians is:</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“A website builds a brochure.</a:t>
            </a:r>
            <a:br>
              <a:rPr lang="en">
                <a:solidFill>
                  <a:schemeClr val="dk1"/>
                </a:solidFill>
              </a:rPr>
            </a:br>
            <a:r>
              <a:rPr lang="en">
                <a:solidFill>
                  <a:schemeClr val="dk1"/>
                </a:solidFill>
              </a:rPr>
              <a:t> While a WebMD profile builds long-term authority that AI models learn and trust.”</a:t>
            </a:r>
            <a:endParaRPr>
              <a:solidFill>
                <a:schemeClr val="dk1"/>
              </a:solidFill>
            </a:endParaRPr>
          </a:p>
          <a:p>
            <a:pPr indent="0" lvl="0" marL="0" rtl="0" algn="l">
              <a:lnSpc>
                <a:spcPct val="115000"/>
              </a:lnSpc>
              <a:spcBef>
                <a:spcPts val="1200"/>
              </a:spcBef>
              <a:spcAft>
                <a:spcPts val="0"/>
              </a:spcAft>
              <a:buSzPts val="1100"/>
              <a:buNone/>
            </a:pPr>
            <a:r>
              <a:rPr b="1" lang="en">
                <a:solidFill>
                  <a:schemeClr val="dk1"/>
                </a:solidFill>
              </a:rPr>
              <a:t>But most importantly, WebMD Profiles are no longer just about traffic. They create authority infrastructure, so that the physician can be referenced in AI answers.</a:t>
            </a:r>
            <a:endParaRPr b="1">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 name="Google Shape;12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1100"/>
              <a:buNone/>
            </a:pPr>
            <a:r>
              <a:rPr lang="en"/>
              <a:t>Think of a WebMD profile as an AI ID card.</a:t>
            </a:r>
            <a:endParaRPr/>
          </a:p>
          <a:p>
            <a:pPr indent="0" lvl="0" marL="0" rtl="0" algn="l">
              <a:lnSpc>
                <a:spcPct val="115000"/>
              </a:lnSpc>
              <a:spcBef>
                <a:spcPts val="1200"/>
              </a:spcBef>
              <a:spcAft>
                <a:spcPts val="0"/>
              </a:spcAft>
              <a:buClr>
                <a:schemeClr val="dk1"/>
              </a:buClr>
              <a:buSzPts val="1100"/>
              <a:buFont typeface="Arial"/>
              <a:buNone/>
            </a:pPr>
            <a:r>
              <a:rPr lang="en"/>
              <a:t>So how does it work? This is where we get a little more technical.</a:t>
            </a:r>
            <a:endParaRPr/>
          </a:p>
          <a:p>
            <a:pPr indent="0" lvl="0" marL="0" rtl="0" algn="l">
              <a:lnSpc>
                <a:spcPct val="115000"/>
              </a:lnSpc>
              <a:spcBef>
                <a:spcPts val="1200"/>
              </a:spcBef>
              <a:spcAft>
                <a:spcPts val="0"/>
              </a:spcAft>
              <a:buSzPts val="1100"/>
              <a:buNone/>
            </a:pPr>
            <a:r>
              <a:rPr lang="en"/>
              <a:t>WebMD Profiles offer structured data and schema, making it more likely to be cited by AI engines.</a:t>
            </a:r>
            <a:endParaRPr/>
          </a:p>
          <a:p>
            <a:pPr indent="0" lvl="0" marL="0" rtl="0" algn="l">
              <a:lnSpc>
                <a:spcPct val="115000"/>
              </a:lnSpc>
              <a:spcBef>
                <a:spcPts val="1200"/>
              </a:spcBef>
              <a:spcAft>
                <a:spcPts val="0"/>
              </a:spcAft>
              <a:buClr>
                <a:schemeClr val="dk1"/>
              </a:buClr>
              <a:buSzPts val="1100"/>
              <a:buFont typeface="Arial"/>
              <a:buNone/>
            </a:pPr>
            <a:r>
              <a:rPr lang="en"/>
              <a:t>WebMD Profiles formats a physician’s credentials into “knowledge blocks” that AI can easily digest and reference.</a:t>
            </a:r>
            <a:endParaRPr/>
          </a:p>
          <a:p>
            <a:pPr indent="0" lvl="0" marL="0" rtl="0" algn="l">
              <a:lnSpc>
                <a:spcPct val="115000"/>
              </a:lnSpc>
              <a:spcBef>
                <a:spcPts val="1200"/>
              </a:spcBef>
              <a:spcAft>
                <a:spcPts val="0"/>
              </a:spcAft>
              <a:buClr>
                <a:schemeClr val="dk1"/>
              </a:buClr>
              <a:buSzPts val="1100"/>
              <a:buFont typeface="Arial"/>
              <a:buNone/>
            </a:pPr>
            <a:r>
              <a:rPr lang="en"/>
              <a:t>AI models prefer this structured, clean, trusted data.</a:t>
            </a:r>
            <a:endParaRPr/>
          </a:p>
          <a:p>
            <a:pPr indent="0" lvl="0" marL="0" rtl="0" algn="l">
              <a:lnSpc>
                <a:spcPct val="115000"/>
              </a:lnSpc>
              <a:spcBef>
                <a:spcPts val="1200"/>
              </a:spcBef>
              <a:spcAft>
                <a:spcPts val="0"/>
              </a:spcAft>
              <a:buClr>
                <a:schemeClr val="dk1"/>
              </a:buClr>
              <a:buSzPts val="1100"/>
              <a:buFont typeface="Arial"/>
              <a:buNone/>
            </a:pPr>
            <a:r>
              <a:rPr lang="en"/>
              <a:t>And here is a sales argument you might use:</a:t>
            </a:r>
            <a:endParaRPr/>
          </a:p>
          <a:p>
            <a:pPr indent="0" lvl="0" marL="0" rtl="0" algn="l">
              <a:lnSpc>
                <a:spcPct val="115000"/>
              </a:lnSpc>
              <a:spcBef>
                <a:spcPts val="1200"/>
              </a:spcBef>
              <a:spcAft>
                <a:spcPts val="0"/>
              </a:spcAft>
              <a:buClr>
                <a:schemeClr val="dk1"/>
              </a:buClr>
              <a:buSzPts val="1100"/>
              <a:buFont typeface="Arial"/>
              <a:buNone/>
            </a:pPr>
            <a:r>
              <a:rPr lang="en"/>
              <a:t>“Your website is for humans. Your WebMD profile is a structured data feed for the machines.”</a:t>
            </a:r>
            <a:endParaRPr/>
          </a:p>
          <a:p>
            <a:pPr indent="0" lvl="0" marL="0" rtl="0" algn="l">
              <a:lnSpc>
                <a:spcPct val="115000"/>
              </a:lnSpc>
              <a:spcBef>
                <a:spcPts val="1200"/>
              </a:spcBef>
              <a:spcAft>
                <a:spcPts val="1200"/>
              </a:spcAft>
              <a:buSzPts val="1100"/>
              <a:buNone/>
            </a:pPr>
            <a:r>
              <a:rPr lang="en"/>
              <a:t>That line reframes the entire value proposition.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This is where reputation becomes strategic.</a:t>
            </a:r>
            <a:endParaRPr/>
          </a:p>
          <a:p>
            <a:pPr indent="0" lvl="0" marL="0" rtl="0" algn="l">
              <a:lnSpc>
                <a:spcPct val="115000"/>
              </a:lnSpc>
              <a:spcBef>
                <a:spcPts val="1200"/>
              </a:spcBef>
              <a:spcAft>
                <a:spcPts val="0"/>
              </a:spcAft>
              <a:buClr>
                <a:schemeClr val="dk1"/>
              </a:buClr>
              <a:buSzPts val="1100"/>
              <a:buFont typeface="Arial"/>
              <a:buNone/>
            </a:pPr>
            <a:r>
              <a:rPr lang="en"/>
              <a:t>AI reads review text-  not just star ratings.</a:t>
            </a:r>
            <a:endParaRPr/>
          </a:p>
          <a:p>
            <a:pPr indent="0" lvl="0" marL="0" rtl="0" algn="l">
              <a:lnSpc>
                <a:spcPct val="115000"/>
              </a:lnSpc>
              <a:spcBef>
                <a:spcPts val="1200"/>
              </a:spcBef>
              <a:spcAft>
                <a:spcPts val="0"/>
              </a:spcAft>
              <a:buClr>
                <a:schemeClr val="dk1"/>
              </a:buClr>
              <a:buSzPts val="1100"/>
              <a:buFont typeface="Arial"/>
              <a:buNone/>
            </a:pPr>
            <a:r>
              <a:rPr lang="en"/>
              <a:t>It looks at:</a:t>
            </a:r>
            <a:endParaRPr/>
          </a:p>
          <a:p>
            <a:pPr indent="-298450" lvl="0" marL="457200" rtl="0" algn="l">
              <a:lnSpc>
                <a:spcPct val="115000"/>
              </a:lnSpc>
              <a:spcBef>
                <a:spcPts val="1200"/>
              </a:spcBef>
              <a:spcAft>
                <a:spcPts val="0"/>
              </a:spcAft>
              <a:buClr>
                <a:schemeClr val="dk1"/>
              </a:buClr>
              <a:buSzPts val="1100"/>
              <a:buChar char="●"/>
            </a:pPr>
            <a:r>
              <a:rPr lang="en"/>
              <a:t>Sentiment</a:t>
            </a:r>
            <a:br>
              <a:rPr lang="en"/>
            </a:br>
            <a:endParaRPr/>
          </a:p>
          <a:p>
            <a:pPr indent="-298450" lvl="0" marL="457200" rtl="0" algn="l">
              <a:lnSpc>
                <a:spcPct val="115000"/>
              </a:lnSpc>
              <a:spcBef>
                <a:spcPts val="0"/>
              </a:spcBef>
              <a:spcAft>
                <a:spcPts val="0"/>
              </a:spcAft>
              <a:buClr>
                <a:schemeClr val="dk1"/>
              </a:buClr>
              <a:buSzPts val="1100"/>
              <a:buChar char="●"/>
            </a:pPr>
            <a:r>
              <a:rPr lang="en"/>
              <a:t>Specific condition mentions</a:t>
            </a:r>
            <a:br>
              <a:rPr lang="en"/>
            </a:br>
            <a:endParaRPr/>
          </a:p>
          <a:p>
            <a:pPr indent="-298450" lvl="0" marL="457200" rtl="0" algn="l">
              <a:lnSpc>
                <a:spcPct val="115000"/>
              </a:lnSpc>
              <a:spcBef>
                <a:spcPts val="0"/>
              </a:spcBef>
              <a:spcAft>
                <a:spcPts val="0"/>
              </a:spcAft>
              <a:buClr>
                <a:schemeClr val="dk1"/>
              </a:buClr>
              <a:buSzPts val="1100"/>
              <a:buChar char="●"/>
            </a:pPr>
            <a:r>
              <a:rPr lang="en"/>
              <a:t>Freshness</a:t>
            </a:r>
            <a:br>
              <a:rPr lang="en"/>
            </a:br>
            <a:endParaRPr/>
          </a:p>
          <a:p>
            <a:pPr indent="0" lvl="0" marL="0" rtl="0" algn="l">
              <a:lnSpc>
                <a:spcPct val="115000"/>
              </a:lnSpc>
              <a:spcBef>
                <a:spcPts val="1200"/>
              </a:spcBef>
              <a:spcAft>
                <a:spcPts val="0"/>
              </a:spcAft>
              <a:buClr>
                <a:schemeClr val="dk1"/>
              </a:buClr>
              <a:buSzPts val="1100"/>
              <a:buFont typeface="Arial"/>
              <a:buNone/>
            </a:pPr>
            <a:r>
              <a:rPr lang="en"/>
              <a:t>Review velocity matters.</a:t>
            </a:r>
            <a:endParaRPr/>
          </a:p>
          <a:p>
            <a:pPr indent="0" lvl="0" marL="0" rtl="0" algn="l">
              <a:lnSpc>
                <a:spcPct val="115000"/>
              </a:lnSpc>
              <a:spcBef>
                <a:spcPts val="1200"/>
              </a:spcBef>
              <a:spcAft>
                <a:spcPts val="0"/>
              </a:spcAft>
              <a:buClr>
                <a:schemeClr val="dk1"/>
              </a:buClr>
              <a:buSzPts val="1100"/>
              <a:buFont typeface="Arial"/>
              <a:buNone/>
            </a:pPr>
            <a:r>
              <a:rPr lang="en"/>
              <a:t>If a physician has no reviews in 90 days, AI confidence drops.</a:t>
            </a:r>
            <a:endParaRPr/>
          </a:p>
          <a:p>
            <a:pPr indent="0" lvl="0" marL="0" rtl="0" algn="l">
              <a:lnSpc>
                <a:spcPct val="115000"/>
              </a:lnSpc>
              <a:spcBef>
                <a:spcPts val="1200"/>
              </a:spcBef>
              <a:spcAft>
                <a:spcPts val="1200"/>
              </a:spcAft>
              <a:buSzPts val="1100"/>
              <a:buNone/>
            </a:pPr>
            <a:r>
              <a:rPr lang="en"/>
              <a:t>A steady stream of WebMD reviews signals that a physician is active, verified and safe to recommend.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9" name="Google Shape;14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Our reputation tools create a system, they’re not just a one-off.</a:t>
            </a:r>
            <a:endParaRPr/>
          </a:p>
          <a:p>
            <a:pPr indent="0" lvl="0" marL="0" rtl="0" algn="l">
              <a:lnSpc>
                <a:spcPct val="115000"/>
              </a:lnSpc>
              <a:spcBef>
                <a:spcPts val="1200"/>
              </a:spcBef>
              <a:spcAft>
                <a:spcPts val="0"/>
              </a:spcAft>
              <a:buClr>
                <a:schemeClr val="dk1"/>
              </a:buClr>
              <a:buSzPts val="1100"/>
              <a:buFont typeface="Arial"/>
              <a:buNone/>
            </a:pPr>
            <a:r>
              <a:rPr lang="en"/>
              <a:t>We automate review collection to maintain what we can call the AI “heartbeat.”</a:t>
            </a:r>
            <a:endParaRPr/>
          </a:p>
          <a:p>
            <a:pPr indent="0" lvl="0" marL="0" rtl="0" algn="l">
              <a:lnSpc>
                <a:spcPct val="115000"/>
              </a:lnSpc>
              <a:spcBef>
                <a:spcPts val="1200"/>
              </a:spcBef>
              <a:spcAft>
                <a:spcPts val="0"/>
              </a:spcAft>
              <a:buClr>
                <a:schemeClr val="dk1"/>
              </a:buClr>
              <a:buSzPts val="1100"/>
              <a:buFont typeface="Arial"/>
              <a:buNone/>
            </a:pPr>
            <a:r>
              <a:rPr lang="en"/>
              <a:t>In 2026, reputation and expertise signals matter more than backlinks.</a:t>
            </a:r>
            <a:endParaRPr/>
          </a:p>
          <a:p>
            <a:pPr indent="0" lvl="0" marL="0" rtl="0" algn="l">
              <a:lnSpc>
                <a:spcPct val="115000"/>
              </a:lnSpc>
              <a:spcBef>
                <a:spcPts val="1200"/>
              </a:spcBef>
              <a:spcAft>
                <a:spcPts val="0"/>
              </a:spcAft>
              <a:buClr>
                <a:schemeClr val="dk1"/>
              </a:buClr>
              <a:buSzPts val="1100"/>
              <a:buFont typeface="Arial"/>
              <a:buNone/>
            </a:pPr>
            <a:r>
              <a:rPr lang="en"/>
              <a:t>And engagement — responding to reviews — tells AI:</a:t>
            </a:r>
            <a:br>
              <a:rPr lang="en"/>
            </a:br>
            <a:r>
              <a:rPr lang="en"/>
              <a:t>This provider is active and accountable.</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How many of you have heard the “I already have a website” objection?</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Depending on how many - okay, so what objections have you heard? (Erika to take notes)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For now, we’ll use this as an example to show how we might express the value of a WebMD Featured profile to a doctor who says they want more visibility.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I’m also sending out an Objection Handling One Sheet after this presentation for you to use to help you in your conversations with leads around AI search.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Now we’re going to transition to a live demo. Let’s see this in action.</a:t>
            </a:r>
            <a:endParaRPr/>
          </a:p>
          <a:p>
            <a:pPr indent="0" lvl="0" marL="0" rtl="0" algn="l">
              <a:lnSpc>
                <a:spcPct val="115000"/>
              </a:lnSpc>
              <a:spcBef>
                <a:spcPts val="1200"/>
              </a:spcBef>
              <a:spcAft>
                <a:spcPts val="0"/>
              </a:spcAft>
              <a:buClr>
                <a:schemeClr val="dk1"/>
              </a:buClr>
              <a:buSzPts val="1100"/>
              <a:buFont typeface="Arial"/>
              <a:buNone/>
            </a:pPr>
            <a:r>
              <a:rPr lang="en"/>
              <a:t>(Open ChatGPT.)</a:t>
            </a:r>
            <a:endParaRPr/>
          </a:p>
          <a:p>
            <a:pPr indent="0" lvl="0" marL="0" rtl="0" algn="l">
              <a:lnSpc>
                <a:spcPct val="115000"/>
              </a:lnSpc>
              <a:spcBef>
                <a:spcPts val="1200"/>
              </a:spcBef>
              <a:spcAft>
                <a:spcPts val="0"/>
              </a:spcAft>
              <a:buClr>
                <a:schemeClr val="dk1"/>
              </a:buClr>
              <a:buSzPts val="1100"/>
              <a:buFont typeface="Arial"/>
              <a:buNone/>
            </a:pPr>
            <a:r>
              <a:rPr lang="en"/>
              <a:t>Run a local doctor query.</a:t>
            </a:r>
            <a:endParaRPr/>
          </a:p>
          <a:p>
            <a:pPr indent="0" lvl="0" marL="0" rtl="0" algn="l">
              <a:lnSpc>
                <a:spcPct val="115000"/>
              </a:lnSpc>
              <a:spcBef>
                <a:spcPts val="1200"/>
              </a:spcBef>
              <a:spcAft>
                <a:spcPts val="0"/>
              </a:spcAft>
              <a:buClr>
                <a:schemeClr val="dk1"/>
              </a:buClr>
              <a:buSzPts val="1100"/>
              <a:buFont typeface="Arial"/>
              <a:buNone/>
            </a:pPr>
            <a:r>
              <a:rPr lang="en"/>
              <a:t>Highlight:</a:t>
            </a:r>
            <a:endParaRPr/>
          </a:p>
          <a:p>
            <a:pPr indent="-298450" lvl="0" marL="457200" rtl="0" algn="l">
              <a:lnSpc>
                <a:spcPct val="115000"/>
              </a:lnSpc>
              <a:spcBef>
                <a:spcPts val="1200"/>
              </a:spcBef>
              <a:spcAft>
                <a:spcPts val="0"/>
              </a:spcAft>
              <a:buClr>
                <a:schemeClr val="dk1"/>
              </a:buClr>
              <a:buSzPts val="1100"/>
              <a:buChar char="●"/>
            </a:pPr>
            <a:r>
              <a:rPr lang="en"/>
              <a:t>Structured formatting</a:t>
            </a:r>
            <a:endParaRPr/>
          </a:p>
          <a:p>
            <a:pPr indent="-298450" lvl="0" marL="457200" rtl="0" algn="l">
              <a:lnSpc>
                <a:spcPct val="115000"/>
              </a:lnSpc>
              <a:spcBef>
                <a:spcPts val="0"/>
              </a:spcBef>
              <a:spcAft>
                <a:spcPts val="0"/>
              </a:spcAft>
              <a:buClr>
                <a:schemeClr val="dk1"/>
              </a:buClr>
              <a:buSzPts val="1100"/>
              <a:buChar char="●"/>
            </a:pPr>
            <a:r>
              <a:rPr lang="en"/>
              <a:t>Citations</a:t>
            </a:r>
            <a:endParaRPr/>
          </a:p>
          <a:p>
            <a:pPr indent="-298450" lvl="0" marL="457200" rtl="0" algn="l">
              <a:lnSpc>
                <a:spcPct val="115000"/>
              </a:lnSpc>
              <a:spcBef>
                <a:spcPts val="0"/>
              </a:spcBef>
              <a:spcAft>
                <a:spcPts val="0"/>
              </a:spcAft>
              <a:buClr>
                <a:schemeClr val="dk1"/>
              </a:buClr>
              <a:buSzPts val="1100"/>
              <a:buChar char="●"/>
            </a:pPr>
            <a:r>
              <a:rPr lang="en"/>
              <a:t>How CTAs appear - now structured in ChatGPT</a:t>
            </a:r>
            <a:endParaRPr/>
          </a:p>
          <a:p>
            <a:pPr indent="0" lvl="0" marL="0" rtl="0" algn="l">
              <a:lnSpc>
                <a:spcPct val="115000"/>
              </a:lnSpc>
              <a:spcBef>
                <a:spcPts val="1200"/>
              </a:spcBef>
              <a:spcAft>
                <a:spcPts val="0"/>
              </a:spcAft>
              <a:buSzPts val="1100"/>
              <a:buNone/>
            </a:pPr>
            <a:r>
              <a:rPr lang="en"/>
              <a:t>This is where the decision is happening now.</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t>Hybrid search is the future.</a:t>
            </a:r>
            <a:endParaRPr/>
          </a:p>
          <a:p>
            <a:pPr indent="0" lvl="0" marL="0" rtl="0" algn="l">
              <a:lnSpc>
                <a:spcPct val="115000"/>
              </a:lnSpc>
              <a:spcBef>
                <a:spcPts val="1200"/>
              </a:spcBef>
              <a:spcAft>
                <a:spcPts val="0"/>
              </a:spcAft>
              <a:buClr>
                <a:schemeClr val="dk1"/>
              </a:buClr>
              <a:buSzPts val="1100"/>
              <a:buFont typeface="Arial"/>
              <a:buNone/>
            </a:pPr>
            <a:r>
              <a:rPr lang="en"/>
              <a:t>That’s both Traditional SEO and AI Optimization.</a:t>
            </a:r>
            <a:endParaRPr/>
          </a:p>
          <a:p>
            <a:pPr indent="0" lvl="0" marL="0" rtl="0" algn="l">
              <a:lnSpc>
                <a:spcPct val="115000"/>
              </a:lnSpc>
              <a:spcBef>
                <a:spcPts val="1200"/>
              </a:spcBef>
              <a:spcAft>
                <a:spcPts val="0"/>
              </a:spcAft>
              <a:buClr>
                <a:schemeClr val="dk1"/>
              </a:buClr>
              <a:buSzPts val="1100"/>
              <a:buFont typeface="Arial"/>
              <a:buNone/>
            </a:pPr>
            <a:r>
              <a:rPr lang="en"/>
              <a:t>The winner is not the physician with the prettiest website.</a:t>
            </a:r>
            <a:endParaRPr/>
          </a:p>
          <a:p>
            <a:pPr indent="0" lvl="0" marL="0" rtl="0" algn="l">
              <a:lnSpc>
                <a:spcPct val="115000"/>
              </a:lnSpc>
              <a:spcBef>
                <a:spcPts val="1200"/>
              </a:spcBef>
              <a:spcAft>
                <a:spcPts val="0"/>
              </a:spcAft>
              <a:buClr>
                <a:schemeClr val="dk1"/>
              </a:buClr>
              <a:buSzPts val="1100"/>
              <a:buFont typeface="Arial"/>
              <a:buNone/>
            </a:pPr>
            <a:r>
              <a:rPr lang="en"/>
              <a:t>It’s the physician with the most trusted, structured, recent data signals.</a:t>
            </a:r>
            <a:endParaRPr/>
          </a:p>
          <a:p>
            <a:pPr indent="0" lvl="0" marL="0" rtl="0" algn="l">
              <a:lnSpc>
                <a:spcPct val="115000"/>
              </a:lnSpc>
              <a:spcBef>
                <a:spcPts val="1200"/>
              </a:spcBef>
              <a:spcAft>
                <a:spcPts val="0"/>
              </a:spcAft>
              <a:buSzPts val="1100"/>
              <a:buNone/>
            </a:pPr>
            <a:r>
              <a:rPr b="1" lang="en"/>
              <a:t>So here’s a line you might use in your sales calls:</a:t>
            </a:r>
            <a:endParaRPr b="1"/>
          </a:p>
          <a:p>
            <a:pPr indent="0" lvl="0" marL="0" rtl="0" algn="l">
              <a:lnSpc>
                <a:spcPct val="115000"/>
              </a:lnSpc>
              <a:spcBef>
                <a:spcPts val="1200"/>
              </a:spcBef>
              <a:spcAft>
                <a:spcPts val="0"/>
              </a:spcAft>
              <a:buClr>
                <a:schemeClr val="dk1"/>
              </a:buClr>
              <a:buSzPts val="1100"/>
              <a:buFont typeface="Arial"/>
              <a:buNone/>
            </a:pPr>
            <a:r>
              <a:rPr lang="en"/>
              <a:t>“One in four patients now asks AI for a doctor recommendation by name. If the AI can’t verify you through a trusted directory like WebMD, it won’t vouch for you.”</a:t>
            </a:r>
            <a:endParaRPr/>
          </a:p>
          <a:p>
            <a:pPr indent="0" lvl="0" marL="0" rtl="0" algn="l">
              <a:lnSpc>
                <a:spcPct val="115000"/>
              </a:lnSpc>
              <a:spcBef>
                <a:spcPts val="1200"/>
              </a:spcBef>
              <a:spcAft>
                <a:spcPts val="0"/>
              </a:spcAft>
              <a:buClr>
                <a:schemeClr val="dk1"/>
              </a:buClr>
              <a:buSzPts val="1100"/>
              <a:buFont typeface="Arial"/>
              <a:buNone/>
            </a:pPr>
            <a:r>
              <a:rPr lang="en"/>
              <a:t>That’s the opportunity we’re providing - to be known and trusted.</a:t>
            </a:r>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 have some very exciting sales resources.</a:t>
            </a:r>
            <a:endParaRPr/>
          </a:p>
          <a:p>
            <a:pPr indent="0" lvl="0" marL="0" rtl="0" algn="l">
              <a:lnSpc>
                <a:spcPct val="115000"/>
              </a:lnSpc>
              <a:spcBef>
                <a:spcPts val="1200"/>
              </a:spcBef>
              <a:spcAft>
                <a:spcPts val="0"/>
              </a:spcAft>
              <a:buClr>
                <a:schemeClr val="dk1"/>
              </a:buClr>
              <a:buSzPts val="1100"/>
              <a:buFont typeface="Arial"/>
              <a:buNone/>
            </a:pPr>
            <a:r>
              <a:rPr lang="en"/>
              <a:t>To support you, I’m providing:</a:t>
            </a:r>
            <a:endParaRPr/>
          </a:p>
          <a:p>
            <a:pPr indent="-298450" lvl="0" marL="457200" rtl="0" algn="l">
              <a:lnSpc>
                <a:spcPct val="115000"/>
              </a:lnSpc>
              <a:spcBef>
                <a:spcPts val="1200"/>
              </a:spcBef>
              <a:spcAft>
                <a:spcPts val="0"/>
              </a:spcAft>
              <a:buClr>
                <a:schemeClr val="dk1"/>
              </a:buClr>
              <a:buSzPts val="1100"/>
              <a:buChar char="●"/>
            </a:pPr>
            <a:r>
              <a:rPr lang="en"/>
              <a:t>An Internal Objection Handling One Sheet, which is pictured here above.</a:t>
            </a:r>
            <a:br>
              <a:rPr lang="en"/>
            </a:br>
            <a:endParaRPr/>
          </a:p>
          <a:p>
            <a:pPr indent="-298450" lvl="0" marL="457200" rtl="0" algn="l">
              <a:lnSpc>
                <a:spcPct val="115000"/>
              </a:lnSpc>
              <a:spcBef>
                <a:spcPts val="0"/>
              </a:spcBef>
              <a:spcAft>
                <a:spcPts val="0"/>
              </a:spcAft>
              <a:buClr>
                <a:schemeClr val="dk1"/>
              </a:buClr>
              <a:buSzPts val="1100"/>
              <a:buChar char="●"/>
            </a:pPr>
            <a:r>
              <a:rPr lang="en"/>
              <a:t>A One Sheet you can send to physicians as a follow up or even on your calls called The AI Answer Era: How Physicians Win in 2026.</a:t>
            </a:r>
            <a:endParaRPr/>
          </a:p>
          <a:p>
            <a:pPr indent="0" lvl="0" marL="0" rtl="0" algn="l">
              <a:lnSpc>
                <a:spcPct val="115000"/>
              </a:lnSpc>
              <a:spcBef>
                <a:spcPts val="1200"/>
              </a:spcBef>
              <a:spcAft>
                <a:spcPts val="0"/>
              </a:spcAft>
              <a:buSzPts val="1100"/>
              <a:buNone/>
            </a:pPr>
            <a:r>
              <a:rPr lang="en"/>
              <a:t>These are tools to help you translate this shift into confident sales conversations.</a:t>
            </a:r>
            <a:endParaRPr/>
          </a:p>
          <a:p>
            <a:pPr indent="0" lvl="0" marL="0" rtl="0" algn="l">
              <a:lnSpc>
                <a:spcPct val="115000"/>
              </a:lnSpc>
              <a:spcBef>
                <a:spcPts val="1200"/>
              </a:spcBef>
              <a:spcAft>
                <a:spcPts val="0"/>
              </a:spcAft>
              <a:buSzPts val="1100"/>
              <a:buNone/>
            </a:pPr>
            <a:r>
              <a:rPr b="1" lang="en">
                <a:solidFill>
                  <a:schemeClr val="dk1"/>
                </a:solidFill>
              </a:rPr>
              <a:t>To sum all of this up:</a:t>
            </a:r>
            <a:endParaRPr b="1">
              <a:solidFill>
                <a:schemeClr val="dk1"/>
              </a:solidFill>
            </a:endParaRPr>
          </a:p>
          <a:p>
            <a:pPr indent="0" lvl="0" marL="0" rtl="0" algn="l">
              <a:lnSpc>
                <a:spcPct val="115000"/>
              </a:lnSpc>
              <a:spcBef>
                <a:spcPts val="1200"/>
              </a:spcBef>
              <a:spcAft>
                <a:spcPts val="0"/>
              </a:spcAft>
              <a:buSzPts val="1100"/>
              <a:buNone/>
            </a:pPr>
            <a:r>
              <a:rPr lang="en">
                <a:solidFill>
                  <a:schemeClr val="dk1"/>
                </a:solidFill>
              </a:rPr>
              <a:t>Visibility used to mean ranking on page one.</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Now it means being the answer.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WebMD helps doctors become the answer.</a:t>
            </a:r>
            <a:endParaRPr b="1"/>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Are there any questions?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jp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jp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3.jpg"/><Relationship Id="rId4"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bg>
      <p:bgPr>
        <a:blipFill>
          <a:blip r:embed="rId2">
            <a:alphaModFix/>
          </a:blip>
          <a:stretch>
            <a:fillRect/>
          </a:stretch>
        </a:blipFill>
      </p:bgPr>
    </p:bg>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 Title: 1 Column">
  <p:cSld name="TITLE_1">
    <p:bg>
      <p:bgPr>
        <a:gradFill>
          <a:gsLst>
            <a:gs pos="0">
              <a:srgbClr val="D2D9FF"/>
            </a:gs>
            <a:gs pos="34000">
              <a:schemeClr val="lt1"/>
            </a:gs>
            <a:gs pos="100000">
              <a:schemeClr val="lt1"/>
            </a:gs>
          </a:gsLst>
          <a:lin ang="5400012" scaled="0"/>
        </a:gradFill>
      </p:bgPr>
    </p:bg>
    <p:spTree>
      <p:nvGrpSpPr>
        <p:cNvPr id="9" name="Shape 9"/>
        <p:cNvGrpSpPr/>
        <p:nvPr/>
      </p:nvGrpSpPr>
      <p:grpSpPr>
        <a:xfrm>
          <a:off x="0" y="0"/>
          <a:ext cx="0" cy="0"/>
          <a:chOff x="0" y="0"/>
          <a:chExt cx="0" cy="0"/>
        </a:xfrm>
      </p:grpSpPr>
      <p:sp>
        <p:nvSpPr>
          <p:cNvPr id="10" name="Google Shape;10;p3"/>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00157C"/>
              </a:buClr>
              <a:buSzPts val="2000"/>
              <a:buFont typeface="Arial"/>
              <a:buNone/>
              <a:defRPr>
                <a:solidFill>
                  <a:srgbClr val="00157C"/>
                </a:solidFill>
                <a:latin typeface="Arial"/>
                <a:ea typeface="Arial"/>
                <a:cs typeface="Arial"/>
                <a:sym typeface="Arial"/>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p:nvPr/>
        </p:nvSpPr>
        <p:spPr>
          <a:xfrm>
            <a:off x="4058100" y="1207008"/>
            <a:ext cx="1027800" cy="36600"/>
          </a:xfrm>
          <a:prstGeom prst="rect">
            <a:avLst/>
          </a:prstGeom>
          <a:solidFill>
            <a:srgbClr val="7384D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D4FF"/>
              </a:solidFill>
              <a:latin typeface="Arial"/>
              <a:ea typeface="Arial"/>
              <a:cs typeface="Arial"/>
              <a:sym typeface="Arial"/>
            </a:endParaRPr>
          </a:p>
        </p:txBody>
      </p:sp>
      <p:sp>
        <p:nvSpPr>
          <p:cNvPr id="12" name="Google Shape;12;p3"/>
          <p:cNvSpPr txBox="1"/>
          <p:nvPr>
            <p:ph idx="1" type="body"/>
          </p:nvPr>
        </p:nvSpPr>
        <p:spPr>
          <a:xfrm>
            <a:off x="1371600" y="1399032"/>
            <a:ext cx="6400800" cy="1876500"/>
          </a:xfrm>
          <a:prstGeom prst="rect">
            <a:avLst/>
          </a:prstGeom>
          <a:noFill/>
          <a:ln>
            <a:noFill/>
          </a:ln>
        </p:spPr>
        <p:txBody>
          <a:bodyPr anchorCtr="0" anchor="t" bIns="91425" lIns="91425" spcFirstLastPara="1" rIns="91425" wrap="square" tIns="91425">
            <a:noAutofit/>
          </a:bodyPr>
          <a:lstStyle>
            <a:lvl1pPr indent="-317500" lvl="0" marL="457200" algn="ctr">
              <a:lnSpc>
                <a:spcPct val="115000"/>
              </a:lnSpc>
              <a:spcBef>
                <a:spcPts val="0"/>
              </a:spcBef>
              <a:spcAft>
                <a:spcPts val="0"/>
              </a:spcAft>
              <a:buClr>
                <a:schemeClr val="accent3"/>
              </a:buClr>
              <a:buSzPts val="1400"/>
              <a:buFont typeface="Arial"/>
              <a:buChar char="●"/>
              <a:defRPr sz="1400">
                <a:solidFill>
                  <a:schemeClr val="accent3"/>
                </a:solidFill>
                <a:latin typeface="Arial"/>
                <a:ea typeface="Arial"/>
                <a:cs typeface="Arial"/>
                <a:sym typeface="Arial"/>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13" name="Google Shape;13;p3"/>
          <p:cNvSpPr txBox="1"/>
          <p:nvPr>
            <p:ph idx="12" type="sldNum"/>
          </p:nvPr>
        </p:nvSpPr>
        <p:spPr>
          <a:xfrm>
            <a:off x="8503920" y="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1pPr>
            <a:lvl2pPr indent="0" lvl="1"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2pPr>
            <a:lvl3pPr indent="0" lvl="2"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3pPr>
            <a:lvl4pPr indent="0" lvl="3"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4pPr>
            <a:lvl5pPr indent="0" lvl="4"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5pPr>
            <a:lvl6pPr indent="0" lvl="5"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6pPr>
            <a:lvl7pPr indent="0" lvl="6"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7pPr>
            <a:lvl8pPr indent="0" lvl="7"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8pPr>
            <a:lvl9pPr indent="0" lvl="8" marL="0" marR="0" rtl="0" algn="r">
              <a:lnSpc>
                <a:spcPct val="100000"/>
              </a:lnSpc>
              <a:spcBef>
                <a:spcPts val="0"/>
              </a:spcBef>
              <a:spcAft>
                <a:spcPts val="0"/>
              </a:spcAft>
              <a:buClr>
                <a:srgbClr val="000000"/>
              </a:buClr>
              <a:buSzPts val="1300"/>
              <a:buFont typeface="Arial"/>
              <a:buNone/>
              <a:defRPr b="1" i="0" sz="1300" u="none" cap="none" strike="noStrike">
                <a:solidFill>
                  <a:srgbClr val="3557FF"/>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en"/>
              <a:t>‹#›</a:t>
            </a:fld>
            <a:endParaRPr sz="1000"/>
          </a:p>
        </p:txBody>
      </p:sp>
      <p:sp>
        <p:nvSpPr>
          <p:cNvPr id="14" name="Google Shape;14;p3"/>
          <p:cNvSpPr/>
          <p:nvPr/>
        </p:nvSpPr>
        <p:spPr>
          <a:xfrm>
            <a:off x="0" y="0"/>
            <a:ext cx="48000" cy="5154600"/>
          </a:xfrm>
          <a:prstGeom prst="rect">
            <a:avLst/>
          </a:prstGeom>
          <a:solidFill>
            <a:srgbClr val="7384D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5" name="Google Shape;15;p3" title="Directories_Logo-Color.png"/>
          <p:cNvPicPr preferRelativeResize="0"/>
          <p:nvPr/>
        </p:nvPicPr>
        <p:blipFill rotWithShape="1">
          <a:blip r:embed="rId2">
            <a:alphaModFix/>
          </a:blip>
          <a:srcRect b="0" l="0" r="0" t="0"/>
          <a:stretch/>
        </p:blipFill>
        <p:spPr>
          <a:xfrm>
            <a:off x="260559" y="208966"/>
            <a:ext cx="1156300" cy="291972"/>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 Title: 2 column" type="title">
  <p:cSld name="TITLE">
    <p:spTree>
      <p:nvGrpSpPr>
        <p:cNvPr id="16" name="Shape 16"/>
        <p:cNvGrpSpPr/>
        <p:nvPr/>
      </p:nvGrpSpPr>
      <p:grpSpPr>
        <a:xfrm>
          <a:off x="0" y="0"/>
          <a:ext cx="0" cy="0"/>
          <a:chOff x="0" y="0"/>
          <a:chExt cx="0" cy="0"/>
        </a:xfrm>
      </p:grpSpPr>
      <p:pic>
        <p:nvPicPr>
          <p:cNvPr id="17" name="Google Shape;17;p4"/>
          <p:cNvPicPr preferRelativeResize="0"/>
          <p:nvPr/>
        </p:nvPicPr>
        <p:blipFill rotWithShape="1">
          <a:blip r:embed="rId2">
            <a:alphaModFix/>
          </a:blip>
          <a:srcRect b="0" l="0" r="0" t="0"/>
          <a:stretch/>
        </p:blipFill>
        <p:spPr>
          <a:xfrm>
            <a:off x="0" y="0"/>
            <a:ext cx="9144000" cy="5143516"/>
          </a:xfrm>
          <a:prstGeom prst="rect">
            <a:avLst/>
          </a:prstGeom>
          <a:noFill/>
          <a:ln>
            <a:noFill/>
          </a:ln>
        </p:spPr>
      </p:pic>
      <p:sp>
        <p:nvSpPr>
          <p:cNvPr id="18" name="Google Shape;18;p4"/>
          <p:cNvSpPr txBox="1"/>
          <p:nvPr>
            <p:ph type="ctrTitle"/>
          </p:nvPr>
        </p:nvSpPr>
        <p:spPr>
          <a:xfrm>
            <a:off x="311700" y="714703"/>
            <a:ext cx="8520600" cy="51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000"/>
              <a:buNone/>
              <a:defRPr sz="2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19" name="Google Shape;19;p4"/>
          <p:cNvPicPr preferRelativeResize="0"/>
          <p:nvPr/>
        </p:nvPicPr>
        <p:blipFill rotWithShape="1">
          <a:blip r:embed="rId3">
            <a:alphaModFix/>
          </a:blip>
          <a:srcRect b="0" l="0" r="0" t="0"/>
          <a:stretch/>
        </p:blipFill>
        <p:spPr>
          <a:xfrm>
            <a:off x="6" y="0"/>
            <a:ext cx="71438" cy="5143500"/>
          </a:xfrm>
          <a:prstGeom prst="rect">
            <a:avLst/>
          </a:prstGeom>
          <a:noFill/>
          <a:ln>
            <a:noFill/>
          </a:ln>
        </p:spPr>
      </p:pic>
      <p:pic>
        <p:nvPicPr>
          <p:cNvPr id="20" name="Google Shape;20;p4"/>
          <p:cNvPicPr preferRelativeResize="0"/>
          <p:nvPr/>
        </p:nvPicPr>
        <p:blipFill rotWithShape="1">
          <a:blip r:embed="rId4">
            <a:alphaModFix/>
          </a:blip>
          <a:srcRect b="0" l="0" r="0" t="0"/>
          <a:stretch/>
        </p:blipFill>
        <p:spPr>
          <a:xfrm>
            <a:off x="317044" y="247953"/>
            <a:ext cx="1156300" cy="163425"/>
          </a:xfrm>
          <a:prstGeom prst="rect">
            <a:avLst/>
          </a:prstGeom>
          <a:noFill/>
          <a:ln>
            <a:noFill/>
          </a:ln>
        </p:spPr>
      </p:pic>
      <p:sp>
        <p:nvSpPr>
          <p:cNvPr id="21" name="Google Shape;21;p4"/>
          <p:cNvSpPr/>
          <p:nvPr/>
        </p:nvSpPr>
        <p:spPr>
          <a:xfrm>
            <a:off x="4058100" y="1205528"/>
            <a:ext cx="1027800" cy="36600"/>
          </a:xfrm>
          <a:prstGeom prst="rect">
            <a:avLst/>
          </a:prstGeom>
          <a:solidFill>
            <a:srgbClr val="44D4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D4FF"/>
              </a:solidFill>
              <a:latin typeface="Arial"/>
              <a:ea typeface="Arial"/>
              <a:cs typeface="Arial"/>
              <a:sym typeface="Arial"/>
            </a:endParaRPr>
          </a:p>
        </p:txBody>
      </p:sp>
      <p:sp>
        <p:nvSpPr>
          <p:cNvPr id="22" name="Google Shape;22;p4"/>
          <p:cNvSpPr txBox="1"/>
          <p:nvPr>
            <p:ph idx="1" type="body"/>
          </p:nvPr>
        </p:nvSpPr>
        <p:spPr>
          <a:xfrm>
            <a:off x="752475" y="1398678"/>
            <a:ext cx="3657600" cy="1876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3"/>
              </a:buClr>
              <a:buSzPts val="1200"/>
              <a:buFont typeface="Arial"/>
              <a:buChar char="●"/>
              <a:defRPr sz="1200">
                <a:solidFill>
                  <a:schemeClr val="accent3"/>
                </a:solidFill>
                <a:latin typeface="Arial"/>
                <a:ea typeface="Arial"/>
                <a:cs typeface="Arial"/>
                <a:sym typeface="Arial"/>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3" name="Google Shape;23;p4"/>
          <p:cNvSpPr txBox="1"/>
          <p:nvPr>
            <p:ph idx="2" type="body"/>
          </p:nvPr>
        </p:nvSpPr>
        <p:spPr>
          <a:xfrm>
            <a:off x="4752975" y="1398678"/>
            <a:ext cx="3657600" cy="1876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3"/>
              </a:buClr>
              <a:buSzPts val="1200"/>
              <a:buFont typeface="Arial"/>
              <a:buChar char="●"/>
              <a:defRPr sz="1200">
                <a:solidFill>
                  <a:schemeClr val="accent3"/>
                </a:solidFill>
                <a:latin typeface="Arial"/>
                <a:ea typeface="Arial"/>
                <a:cs typeface="Arial"/>
                <a:sym typeface="Arial"/>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24" name="Google Shape;24;p4"/>
          <p:cNvSpPr txBox="1"/>
          <p:nvPr>
            <p:ph idx="12" type="sldNum"/>
          </p:nvPr>
        </p:nvSpPr>
        <p:spPr>
          <a:xfrm>
            <a:off x="8503920" y="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en"/>
              <a:t>‹#›</a:t>
            </a:fld>
            <a:endParaRPr sz="10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 Title: Image + Text">
  <p:cSld name="TITLE_1_2">
    <p:spTree>
      <p:nvGrpSpPr>
        <p:cNvPr id="25" name="Shape 25"/>
        <p:cNvGrpSpPr/>
        <p:nvPr/>
      </p:nvGrpSpPr>
      <p:grpSpPr>
        <a:xfrm>
          <a:off x="0" y="0"/>
          <a:ext cx="0" cy="0"/>
          <a:chOff x="0" y="0"/>
          <a:chExt cx="0" cy="0"/>
        </a:xfrm>
      </p:grpSpPr>
      <p:pic>
        <p:nvPicPr>
          <p:cNvPr id="26" name="Google Shape;26;p5"/>
          <p:cNvPicPr preferRelativeResize="0"/>
          <p:nvPr/>
        </p:nvPicPr>
        <p:blipFill rotWithShape="1">
          <a:blip r:embed="rId2">
            <a:alphaModFix/>
          </a:blip>
          <a:srcRect b="0" l="0" r="0" t="0"/>
          <a:stretch/>
        </p:blipFill>
        <p:spPr>
          <a:xfrm>
            <a:off x="0" y="0"/>
            <a:ext cx="9144000" cy="5143516"/>
          </a:xfrm>
          <a:prstGeom prst="rect">
            <a:avLst/>
          </a:prstGeom>
          <a:noFill/>
          <a:ln>
            <a:noFill/>
          </a:ln>
        </p:spPr>
      </p:pic>
      <p:sp>
        <p:nvSpPr>
          <p:cNvPr id="27" name="Google Shape;27;p5"/>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0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28" name="Google Shape;28;p5"/>
          <p:cNvPicPr preferRelativeResize="0"/>
          <p:nvPr/>
        </p:nvPicPr>
        <p:blipFill rotWithShape="1">
          <a:blip r:embed="rId3">
            <a:alphaModFix/>
          </a:blip>
          <a:srcRect b="0" l="0" r="0" t="0"/>
          <a:stretch/>
        </p:blipFill>
        <p:spPr>
          <a:xfrm>
            <a:off x="6" y="0"/>
            <a:ext cx="71438" cy="5143500"/>
          </a:xfrm>
          <a:prstGeom prst="rect">
            <a:avLst/>
          </a:prstGeom>
          <a:noFill/>
          <a:ln>
            <a:noFill/>
          </a:ln>
        </p:spPr>
      </p:pic>
      <p:pic>
        <p:nvPicPr>
          <p:cNvPr id="29" name="Google Shape;29;p5"/>
          <p:cNvPicPr preferRelativeResize="0"/>
          <p:nvPr/>
        </p:nvPicPr>
        <p:blipFill rotWithShape="1">
          <a:blip r:embed="rId4">
            <a:alphaModFix/>
          </a:blip>
          <a:srcRect b="0" l="0" r="0" t="0"/>
          <a:stretch/>
        </p:blipFill>
        <p:spPr>
          <a:xfrm>
            <a:off x="317044" y="247953"/>
            <a:ext cx="1156300" cy="163425"/>
          </a:xfrm>
          <a:prstGeom prst="rect">
            <a:avLst/>
          </a:prstGeom>
          <a:noFill/>
          <a:ln>
            <a:noFill/>
          </a:ln>
        </p:spPr>
      </p:pic>
      <p:sp>
        <p:nvSpPr>
          <p:cNvPr id="30" name="Google Shape;30;p5"/>
          <p:cNvSpPr/>
          <p:nvPr/>
        </p:nvSpPr>
        <p:spPr>
          <a:xfrm>
            <a:off x="4058100" y="1207008"/>
            <a:ext cx="1027800" cy="36600"/>
          </a:xfrm>
          <a:prstGeom prst="rect">
            <a:avLst/>
          </a:prstGeom>
          <a:solidFill>
            <a:srgbClr val="44D4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44D4FF"/>
              </a:solidFill>
              <a:latin typeface="Arial"/>
              <a:ea typeface="Arial"/>
              <a:cs typeface="Arial"/>
              <a:sym typeface="Arial"/>
            </a:endParaRPr>
          </a:p>
        </p:txBody>
      </p:sp>
      <p:sp>
        <p:nvSpPr>
          <p:cNvPr id="31" name="Google Shape;31;p5"/>
          <p:cNvSpPr txBox="1"/>
          <p:nvPr>
            <p:ph idx="1" type="body"/>
          </p:nvPr>
        </p:nvSpPr>
        <p:spPr>
          <a:xfrm>
            <a:off x="749808" y="1703832"/>
            <a:ext cx="3657600" cy="1876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accent3"/>
              </a:buClr>
              <a:buSzPts val="1200"/>
              <a:buFont typeface="Arial"/>
              <a:buChar char="●"/>
              <a:defRPr sz="1200">
                <a:solidFill>
                  <a:schemeClr val="accent3"/>
                </a:solidFill>
                <a:latin typeface="Arial"/>
                <a:ea typeface="Arial"/>
                <a:cs typeface="Arial"/>
                <a:sym typeface="Arial"/>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2" name="Google Shape;32;p5"/>
          <p:cNvSpPr txBox="1"/>
          <p:nvPr>
            <p:ph idx="12" type="sldNum"/>
          </p:nvPr>
        </p:nvSpPr>
        <p:spPr>
          <a:xfrm>
            <a:off x="8503920" y="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sz="1000">
              <a:latin typeface="Roboto Condensed"/>
              <a:ea typeface="Roboto Condensed"/>
              <a:cs typeface="Roboto Condensed"/>
              <a:sym typeface="Roboto Condense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T Title: 1 Column">
  <p:cSld name="TITLE_1_1">
    <p:spTree>
      <p:nvGrpSpPr>
        <p:cNvPr id="33" name="Shape 33"/>
        <p:cNvGrpSpPr/>
        <p:nvPr/>
      </p:nvGrpSpPr>
      <p:grpSpPr>
        <a:xfrm>
          <a:off x="0" y="0"/>
          <a:ext cx="0" cy="0"/>
          <a:chOff x="0" y="0"/>
          <a:chExt cx="0" cy="0"/>
        </a:xfrm>
      </p:grpSpPr>
      <p:pic>
        <p:nvPicPr>
          <p:cNvPr id="34" name="Google Shape;34;p6"/>
          <p:cNvPicPr preferRelativeResize="0"/>
          <p:nvPr/>
        </p:nvPicPr>
        <p:blipFill rotWithShape="1">
          <a:blip r:embed="rId2">
            <a:alphaModFix/>
          </a:blip>
          <a:srcRect b="0" l="0" r="0" t="0"/>
          <a:stretch/>
        </p:blipFill>
        <p:spPr>
          <a:xfrm>
            <a:off x="0" y="0"/>
            <a:ext cx="9144000" cy="5143516"/>
          </a:xfrm>
          <a:prstGeom prst="rect">
            <a:avLst/>
          </a:prstGeom>
          <a:noFill/>
          <a:ln>
            <a:noFill/>
          </a:ln>
        </p:spPr>
      </p:pic>
      <p:sp>
        <p:nvSpPr>
          <p:cNvPr id="35" name="Google Shape;35;p6"/>
          <p:cNvSpPr txBox="1"/>
          <p:nvPr>
            <p:ph type="ctrTitle"/>
          </p:nvPr>
        </p:nvSpPr>
        <p:spPr>
          <a:xfrm>
            <a:off x="310896" y="813816"/>
            <a:ext cx="4069200" cy="512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SzPts val="2000"/>
              <a:buNone/>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pic>
        <p:nvPicPr>
          <p:cNvPr id="36" name="Google Shape;36;p6"/>
          <p:cNvPicPr preferRelativeResize="0"/>
          <p:nvPr/>
        </p:nvPicPr>
        <p:blipFill rotWithShape="1">
          <a:blip r:embed="rId3">
            <a:alphaModFix/>
          </a:blip>
          <a:srcRect b="0" l="0" r="0" t="0"/>
          <a:stretch/>
        </p:blipFill>
        <p:spPr>
          <a:xfrm>
            <a:off x="6" y="0"/>
            <a:ext cx="71438" cy="5143500"/>
          </a:xfrm>
          <a:prstGeom prst="rect">
            <a:avLst/>
          </a:prstGeom>
          <a:noFill/>
          <a:ln>
            <a:noFill/>
          </a:ln>
        </p:spPr>
      </p:pic>
      <p:pic>
        <p:nvPicPr>
          <p:cNvPr id="37" name="Google Shape;37;p6"/>
          <p:cNvPicPr preferRelativeResize="0"/>
          <p:nvPr/>
        </p:nvPicPr>
        <p:blipFill rotWithShape="1">
          <a:blip r:embed="rId4">
            <a:alphaModFix/>
          </a:blip>
          <a:srcRect b="0" l="0" r="0" t="0"/>
          <a:stretch/>
        </p:blipFill>
        <p:spPr>
          <a:xfrm>
            <a:off x="317044" y="247953"/>
            <a:ext cx="1156300" cy="163425"/>
          </a:xfrm>
          <a:prstGeom prst="rect">
            <a:avLst/>
          </a:prstGeom>
          <a:noFill/>
          <a:ln>
            <a:noFill/>
          </a:ln>
        </p:spPr>
      </p:pic>
      <p:sp>
        <p:nvSpPr>
          <p:cNvPr id="38" name="Google Shape;38;p6"/>
          <p:cNvSpPr txBox="1"/>
          <p:nvPr>
            <p:ph idx="1" type="body"/>
          </p:nvPr>
        </p:nvSpPr>
        <p:spPr>
          <a:xfrm>
            <a:off x="317050" y="1549959"/>
            <a:ext cx="4069200" cy="18765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Clr>
                <a:schemeClr val="accent3"/>
              </a:buClr>
              <a:buSzPts val="1200"/>
              <a:buFont typeface="Arial"/>
              <a:buChar char="●"/>
              <a:defRPr sz="1200">
                <a:solidFill>
                  <a:schemeClr val="accent3"/>
                </a:solidFill>
                <a:latin typeface="Arial"/>
                <a:ea typeface="Arial"/>
                <a:cs typeface="Arial"/>
                <a:sym typeface="Arial"/>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9" name="Google Shape;39;p6"/>
          <p:cNvSpPr txBox="1"/>
          <p:nvPr>
            <p:ph idx="12" type="sldNum"/>
          </p:nvPr>
        </p:nvSpPr>
        <p:spPr>
          <a:xfrm>
            <a:off x="8503920" y="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rgbClr val="1F97DC"/>
                </a:solidFill>
                <a:latin typeface="Roboto Condensed"/>
                <a:ea typeface="Roboto Condensed"/>
                <a:cs typeface="Roboto Condensed"/>
                <a:sym typeface="Roboto Condensed"/>
              </a:defRPr>
            </a:lvl9pPr>
          </a:lstStyle>
          <a:p>
            <a:pPr indent="0" lvl="0" marL="0" rtl="0" algn="r">
              <a:spcBef>
                <a:spcPts val="0"/>
              </a:spcBef>
              <a:spcAft>
                <a:spcPts val="0"/>
              </a:spcAft>
              <a:buNone/>
            </a:pPr>
            <a:fld id="{00000000-1234-1234-1234-123412341234}" type="slidenum">
              <a:rPr lang="en"/>
              <a:t>‹#›</a:t>
            </a:fld>
            <a:endParaRPr sz="1000"/>
          </a:p>
        </p:txBody>
      </p:sp>
    </p:spTree>
  </p:cSld>
  <p:clrMapOvr>
    <a:masterClrMapping/>
  </p:clrMapOvr>
  <p:extLst>
    <p:ext uri="{DCECCB84-F9BA-43D5-87BE-67443E8EF086}">
      <p15:sldGuideLst>
        <p15:guide id="1" pos="2880">
          <p15:clr>
            <a:srgbClr val="FA7B17"/>
          </p15:clr>
        </p15:guide>
        <p15:guide id="2" orient="horz" pos="547">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1F97DC"/>
              </a:buClr>
              <a:buSzPts val="2000"/>
              <a:buFont typeface="Roboto Condensed Light"/>
              <a:buNone/>
              <a:defRPr b="0" i="0" sz="2000" u="none" cap="none" strike="noStrike">
                <a:solidFill>
                  <a:srgbClr val="1F97DC"/>
                </a:solidFill>
                <a:latin typeface="Roboto Condensed Light"/>
                <a:ea typeface="Roboto Condensed Light"/>
                <a:cs typeface="Roboto Condensed Light"/>
                <a:sym typeface="Roboto Condensed Light"/>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15000"/>
              </a:lnSpc>
              <a:spcBef>
                <a:spcPts val="0"/>
              </a:spcBef>
              <a:spcAft>
                <a:spcPts val="0"/>
              </a:spcAft>
              <a:buClr>
                <a:schemeClr val="dk2"/>
              </a:buClr>
              <a:buSzPts val="1200"/>
              <a:buFont typeface="Arial"/>
              <a:buChar char="●"/>
              <a:defRPr b="0" i="0" sz="12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0.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7"/>
          <p:cNvSpPr txBox="1"/>
          <p:nvPr/>
        </p:nvSpPr>
        <p:spPr>
          <a:xfrm>
            <a:off x="542290" y="1803400"/>
            <a:ext cx="3683000" cy="1041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2800" u="none" cap="none" strike="noStrike">
                <a:solidFill>
                  <a:schemeClr val="lt1"/>
                </a:solidFill>
                <a:latin typeface="Arial"/>
                <a:ea typeface="Arial"/>
                <a:cs typeface="Arial"/>
                <a:sym typeface="Arial"/>
              </a:rPr>
              <a:t>Selling Visibility in the AI Era</a:t>
            </a:r>
            <a:endParaRPr/>
          </a:p>
        </p:txBody>
      </p:sp>
      <p:pic>
        <p:nvPicPr>
          <p:cNvPr id="45" name="Google Shape;45;p7" title="Logo.png"/>
          <p:cNvPicPr preferRelativeResize="0"/>
          <p:nvPr/>
        </p:nvPicPr>
        <p:blipFill rotWithShape="1">
          <a:blip r:embed="rId3">
            <a:alphaModFix/>
          </a:blip>
          <a:srcRect b="0" l="0" r="0" t="0"/>
          <a:stretch/>
        </p:blipFill>
        <p:spPr>
          <a:xfrm>
            <a:off x="482600" y="914400"/>
            <a:ext cx="2540000" cy="579120"/>
          </a:xfrm>
          <a:prstGeom prst="rect">
            <a:avLst/>
          </a:prstGeom>
          <a:noFill/>
          <a:ln>
            <a:noFill/>
          </a:ln>
        </p:spPr>
      </p:pic>
      <p:sp>
        <p:nvSpPr>
          <p:cNvPr id="46" name="Google Shape;46;p7"/>
          <p:cNvSpPr/>
          <p:nvPr/>
        </p:nvSpPr>
        <p:spPr>
          <a:xfrm rot="5400000">
            <a:off x="-396675" y="2798838"/>
            <a:ext cx="1755300" cy="80400"/>
          </a:xfrm>
          <a:prstGeom prst="rect">
            <a:avLst/>
          </a:prstGeom>
          <a:solidFill>
            <a:srgbClr val="7384D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7"/>
          <p:cNvSpPr txBox="1"/>
          <p:nvPr/>
        </p:nvSpPr>
        <p:spPr>
          <a:xfrm>
            <a:off x="542300" y="2819400"/>
            <a:ext cx="3936900" cy="9309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1800"/>
              </a:spcBef>
              <a:spcAft>
                <a:spcPts val="400"/>
              </a:spcAft>
              <a:buClr>
                <a:schemeClr val="dk1"/>
              </a:buClr>
              <a:buSzPts val="1100"/>
              <a:buFont typeface="Arial"/>
              <a:buNone/>
            </a:pPr>
            <a:r>
              <a:rPr b="0" i="0" lang="en" sz="1600" u="none" cap="none" strike="noStrike">
                <a:solidFill>
                  <a:schemeClr val="lt1"/>
                </a:solidFill>
                <a:latin typeface="Arial"/>
                <a:ea typeface="Arial"/>
                <a:cs typeface="Arial"/>
                <a:sym typeface="Arial"/>
              </a:rPr>
              <a:t>How to communicate WebMD Care Solutions for Answer Engine Optimization (AEO) and New Patient Search Behavior</a:t>
            </a:r>
            <a:endParaRPr/>
          </a:p>
        </p:txBody>
      </p:sp>
      <p:sp>
        <p:nvSpPr>
          <p:cNvPr id="48" name="Google Shape;48;p7"/>
          <p:cNvSpPr txBox="1"/>
          <p:nvPr/>
        </p:nvSpPr>
        <p:spPr>
          <a:xfrm>
            <a:off x="542290" y="4050992"/>
            <a:ext cx="3174900" cy="330300"/>
          </a:xfrm>
          <a:prstGeom prst="rect">
            <a:avLst/>
          </a:prstGeom>
          <a:noFill/>
          <a:ln>
            <a:noFill/>
          </a:ln>
        </p:spPr>
        <p:txBody>
          <a:bodyPr anchorCtr="0" anchor="t" bIns="0" lIns="91425" spcFirstLastPara="1" rIns="0" wrap="square" tIns="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D2D9FF"/>
                </a:solidFill>
                <a:latin typeface="Arial"/>
                <a:ea typeface="Arial"/>
                <a:cs typeface="Arial"/>
                <a:sym typeface="Arial"/>
              </a:rPr>
              <a:t>March 3,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8"/>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Beyond Google: Where the Market is Shifting</a:t>
            </a:r>
            <a:endParaRPr b="1" sz="2500"/>
          </a:p>
        </p:txBody>
      </p:sp>
      <p:pic>
        <p:nvPicPr>
          <p:cNvPr id="54" name="Google Shape;54;p8"/>
          <p:cNvPicPr preferRelativeResize="0"/>
          <p:nvPr/>
        </p:nvPicPr>
        <p:blipFill rotWithShape="1">
          <a:blip r:embed="rId3">
            <a:alphaModFix/>
          </a:blip>
          <a:srcRect b="0" l="0" r="2856" t="0"/>
          <a:stretch/>
        </p:blipFill>
        <p:spPr>
          <a:xfrm>
            <a:off x="311150" y="1930400"/>
            <a:ext cx="4191000" cy="2293620"/>
          </a:xfrm>
          <a:prstGeom prst="rect">
            <a:avLst/>
          </a:prstGeom>
          <a:noFill/>
          <a:ln>
            <a:noFill/>
          </a:ln>
        </p:spPr>
      </p:pic>
      <p:sp>
        <p:nvSpPr>
          <p:cNvPr id="55" name="Google Shape;55;p8"/>
          <p:cNvSpPr txBox="1"/>
          <p:nvPr/>
        </p:nvSpPr>
        <p:spPr>
          <a:xfrm>
            <a:off x="609900" y="1247950"/>
            <a:ext cx="7924200" cy="533400"/>
          </a:xfrm>
          <a:prstGeom prst="rect">
            <a:avLst/>
          </a:prstGeom>
          <a:noFill/>
          <a:ln>
            <a:noFill/>
          </a:ln>
        </p:spPr>
        <p:txBody>
          <a:bodyPr anchorCtr="0" anchor="t" bIns="76200" lIns="0" spcFirstLastPara="1" rIns="127000" wrap="square" tIns="76200">
            <a:noAutofit/>
          </a:bodyPr>
          <a:lstStyle/>
          <a:p>
            <a:pPr indent="0" lvl="0" marL="0" marR="0" rtl="0" algn="ctr">
              <a:lnSpc>
                <a:spcPct val="100000"/>
              </a:lnSpc>
              <a:spcBef>
                <a:spcPts val="0"/>
              </a:spcBef>
              <a:spcAft>
                <a:spcPts val="0"/>
              </a:spcAft>
              <a:buClr>
                <a:srgbClr val="000000"/>
              </a:buClr>
              <a:buSzPts val="1600"/>
              <a:buFont typeface="Arial"/>
              <a:buNone/>
            </a:pPr>
            <a:r>
              <a:rPr b="0" i="1" lang="en" sz="1600" u="none" cap="none" strike="noStrike">
                <a:solidFill>
                  <a:srgbClr val="1A1A1A"/>
                </a:solidFill>
                <a:latin typeface="Arial"/>
                <a:ea typeface="Arial"/>
                <a:cs typeface="Arial"/>
                <a:sym typeface="Arial"/>
              </a:rPr>
              <a:t>Google still dominates, but AI assistants are slicing the "</a:t>
            </a:r>
            <a:r>
              <a:rPr i="1" lang="en" sz="1600">
                <a:solidFill>
                  <a:srgbClr val="1A1A1A"/>
                </a:solidFill>
              </a:rPr>
              <a:t>s</a:t>
            </a:r>
            <a:r>
              <a:rPr b="0" i="1" lang="en" sz="1600" u="none" cap="none" strike="noStrike">
                <a:solidFill>
                  <a:srgbClr val="1A1A1A"/>
                </a:solidFill>
                <a:latin typeface="Arial"/>
                <a:ea typeface="Arial"/>
                <a:cs typeface="Arial"/>
                <a:sym typeface="Arial"/>
              </a:rPr>
              <a:t>earch </a:t>
            </a:r>
            <a:r>
              <a:rPr i="1" lang="en" sz="1600">
                <a:solidFill>
                  <a:srgbClr val="1A1A1A"/>
                </a:solidFill>
              </a:rPr>
              <a:t>p</a:t>
            </a:r>
            <a:r>
              <a:rPr b="0" i="1" lang="en" sz="1600" u="none" cap="none" strike="noStrike">
                <a:solidFill>
                  <a:srgbClr val="1A1A1A"/>
                </a:solidFill>
                <a:latin typeface="Arial"/>
                <a:ea typeface="Arial"/>
                <a:cs typeface="Arial"/>
                <a:sym typeface="Arial"/>
              </a:rPr>
              <a:t>ie"</a:t>
            </a:r>
            <a:r>
              <a:rPr i="1" lang="en" sz="1600">
                <a:solidFill>
                  <a:srgbClr val="1A1A1A"/>
                </a:solidFill>
              </a:rPr>
              <a:t>.</a:t>
            </a:r>
            <a:endParaRPr/>
          </a:p>
        </p:txBody>
      </p:sp>
      <p:sp>
        <p:nvSpPr>
          <p:cNvPr id="56" name="Google Shape;56;p8"/>
          <p:cNvSpPr txBox="1"/>
          <p:nvPr/>
        </p:nvSpPr>
        <p:spPr>
          <a:xfrm>
            <a:off x="4673600" y="2235200"/>
            <a:ext cx="2032000" cy="1092200"/>
          </a:xfrm>
          <a:prstGeom prst="rect">
            <a:avLst/>
          </a:prstGeom>
          <a:solidFill>
            <a:srgbClr val="D2D9FF"/>
          </a:solidFill>
          <a:ln>
            <a:noFill/>
          </a:ln>
        </p:spPr>
        <p:txBody>
          <a:bodyPr anchorCtr="0" anchor="t"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ChatGPT</a:t>
            </a:r>
            <a:r>
              <a:rPr b="0" i="0" lang="en" sz="1600" u="none" cap="none" strike="noStrike">
                <a:solidFill>
                  <a:srgbClr val="1A1A1A"/>
                </a:solidFill>
                <a:latin typeface="Arial"/>
                <a:ea typeface="Arial"/>
                <a:cs typeface="Arial"/>
                <a:sym typeface="Arial"/>
              </a:rPr>
              <a:t> market share, the "entry point" for symptoms</a:t>
            </a:r>
            <a:endParaRPr/>
          </a:p>
        </p:txBody>
      </p:sp>
      <p:sp>
        <p:nvSpPr>
          <p:cNvPr id="57" name="Google Shape;57;p8"/>
          <p:cNvSpPr txBox="1"/>
          <p:nvPr/>
        </p:nvSpPr>
        <p:spPr>
          <a:xfrm>
            <a:off x="6807200" y="2235200"/>
            <a:ext cx="2032000" cy="1092200"/>
          </a:xfrm>
          <a:prstGeom prst="rect">
            <a:avLst/>
          </a:prstGeom>
          <a:solidFill>
            <a:srgbClr val="D2D9FF"/>
          </a:solidFill>
          <a:ln>
            <a:noFill/>
          </a:ln>
        </p:spPr>
        <p:txBody>
          <a:bodyPr anchorCtr="0" anchor="t"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Google Gemini</a:t>
            </a:r>
            <a:r>
              <a:rPr b="0" i="0" lang="en" sz="1600" u="none" cap="none" strike="noStrike">
                <a:solidFill>
                  <a:srgbClr val="1A1A1A"/>
                </a:solidFill>
                <a:latin typeface="Arial"/>
                <a:ea typeface="Arial"/>
                <a:cs typeface="Arial"/>
                <a:sym typeface="Arial"/>
              </a:rPr>
              <a:t>, the "integrated" mobile experience</a:t>
            </a:r>
            <a:endParaRPr/>
          </a:p>
        </p:txBody>
      </p:sp>
      <p:sp>
        <p:nvSpPr>
          <p:cNvPr id="58" name="Google Shape;58;p8"/>
          <p:cNvSpPr txBox="1"/>
          <p:nvPr/>
        </p:nvSpPr>
        <p:spPr>
          <a:xfrm>
            <a:off x="4673600" y="3403600"/>
            <a:ext cx="4165600" cy="812800"/>
          </a:xfrm>
          <a:prstGeom prst="rect">
            <a:avLst/>
          </a:prstGeom>
          <a:solidFill>
            <a:srgbClr val="EEF1FF"/>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Rising challengers:</a:t>
            </a:r>
            <a:r>
              <a:rPr b="0" i="0" lang="en" sz="1600" u="none" cap="none" strike="noStrike">
                <a:solidFill>
                  <a:srgbClr val="1A1A1A"/>
                </a:solidFill>
                <a:latin typeface="Arial"/>
                <a:ea typeface="Arial"/>
                <a:cs typeface="Arial"/>
                <a:sym typeface="Arial"/>
              </a:rPr>
              <a:t> Grok (3%), Perplexity (2%) and Claude (2%) capture high-intent "knowledge queries"</a:t>
            </a:r>
            <a:endParaRPr/>
          </a:p>
        </p:txBody>
      </p:sp>
      <p:sp>
        <p:nvSpPr>
          <p:cNvPr id="59" name="Google Shape;59;p8"/>
          <p:cNvSpPr txBox="1"/>
          <p:nvPr/>
        </p:nvSpPr>
        <p:spPr>
          <a:xfrm>
            <a:off x="4673600" y="4292600"/>
            <a:ext cx="4165600" cy="660400"/>
          </a:xfrm>
          <a:prstGeom prst="rect">
            <a:avLst/>
          </a:prstGeom>
          <a:solidFill>
            <a:srgbClr val="13207A"/>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The volume:</a:t>
            </a:r>
            <a:r>
              <a:rPr b="0" i="0" lang="en" sz="1600" u="none" cap="none" strike="noStrike">
                <a:solidFill>
                  <a:srgbClr val="FFFFFF"/>
                </a:solidFill>
                <a:latin typeface="Arial"/>
                <a:ea typeface="Arial"/>
                <a:cs typeface="Arial"/>
                <a:sym typeface="Arial"/>
              </a:rPr>
              <a:t> ChatGPT alone handles </a:t>
            </a:r>
            <a:r>
              <a:rPr b="1" i="0" lang="en" sz="1600" u="none" cap="none" strike="noStrike">
                <a:solidFill>
                  <a:srgbClr val="FFFFFF"/>
                </a:solidFill>
                <a:latin typeface="Arial"/>
                <a:ea typeface="Arial"/>
                <a:cs typeface="Arial"/>
                <a:sym typeface="Arial"/>
              </a:rPr>
              <a:t>1 billion interactions per day</a:t>
            </a:r>
            <a:endParaRPr/>
          </a:p>
        </p:txBody>
      </p:sp>
      <p:sp>
        <p:nvSpPr>
          <p:cNvPr id="60" name="Google Shape;60;p8"/>
          <p:cNvSpPr txBox="1"/>
          <p:nvPr/>
        </p:nvSpPr>
        <p:spPr>
          <a:xfrm>
            <a:off x="4673600" y="1803400"/>
            <a:ext cx="2032000" cy="431800"/>
          </a:xfrm>
          <a:prstGeom prst="rect">
            <a:avLst/>
          </a:prstGeom>
          <a:solidFill>
            <a:srgbClr val="D2D9FF"/>
          </a:solidFill>
          <a:ln>
            <a:noFill/>
          </a:ln>
        </p:spPr>
        <p:txBody>
          <a:bodyPr anchorCtr="0" anchor="t" bIns="0" lIns="127000" spcFirstLastPara="1" rIns="0" wrap="square" tIns="5080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13207A"/>
                </a:solidFill>
                <a:latin typeface="Arial"/>
                <a:ea typeface="Arial"/>
                <a:cs typeface="Arial"/>
                <a:sym typeface="Arial"/>
              </a:rPr>
              <a:t>64.5%</a:t>
            </a:r>
            <a:endParaRPr/>
          </a:p>
        </p:txBody>
      </p:sp>
      <p:sp>
        <p:nvSpPr>
          <p:cNvPr id="61" name="Google Shape;61;p8"/>
          <p:cNvSpPr txBox="1"/>
          <p:nvPr/>
        </p:nvSpPr>
        <p:spPr>
          <a:xfrm>
            <a:off x="6807200" y="1803400"/>
            <a:ext cx="2032000" cy="431800"/>
          </a:xfrm>
          <a:prstGeom prst="rect">
            <a:avLst/>
          </a:prstGeom>
          <a:solidFill>
            <a:srgbClr val="D2D9FF"/>
          </a:solidFill>
          <a:ln>
            <a:noFill/>
          </a:ln>
        </p:spPr>
        <p:txBody>
          <a:bodyPr anchorCtr="0" anchor="t" bIns="0" lIns="127000" spcFirstLastPara="1" rIns="0" wrap="square" tIns="50800">
            <a:noAutofit/>
          </a:bodyPr>
          <a:lstStyle/>
          <a:p>
            <a:pPr indent="0" lvl="0" marL="0" marR="0" rtl="0" algn="l">
              <a:lnSpc>
                <a:spcPct val="100000"/>
              </a:lnSpc>
              <a:spcBef>
                <a:spcPts val="0"/>
              </a:spcBef>
              <a:spcAft>
                <a:spcPts val="0"/>
              </a:spcAft>
              <a:buClr>
                <a:srgbClr val="000000"/>
              </a:buClr>
              <a:buSzPts val="2800"/>
              <a:buFont typeface="Arial"/>
              <a:buNone/>
            </a:pPr>
            <a:r>
              <a:rPr b="1" i="0" lang="en" sz="2800" u="none" cap="none" strike="noStrike">
                <a:solidFill>
                  <a:srgbClr val="13207A"/>
                </a:solidFill>
                <a:latin typeface="Arial"/>
                <a:ea typeface="Arial"/>
                <a:cs typeface="Arial"/>
                <a:sym typeface="Arial"/>
              </a:rPr>
              <a:t>21.5%</a:t>
            </a:r>
            <a:endParaRPr/>
          </a:p>
        </p:txBody>
      </p:sp>
      <p:sp>
        <p:nvSpPr>
          <p:cNvPr id="62" name="Google Shape;62;p8"/>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9"/>
          <p:cNvSpPr txBox="1"/>
          <p:nvPr>
            <p:ph type="ctrTitle"/>
          </p:nvPr>
        </p:nvSpPr>
        <p:spPr>
          <a:xfrm>
            <a:off x="311150" y="713225"/>
            <a:ext cx="852043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Clr>
                <a:schemeClr val="dk1"/>
              </a:buClr>
              <a:buSzPts val="1100"/>
              <a:buFont typeface="Arial"/>
              <a:buNone/>
            </a:pPr>
            <a:r>
              <a:rPr b="1" lang="en" sz="2500">
                <a:latin typeface="Arial"/>
                <a:ea typeface="Arial"/>
                <a:cs typeface="Arial"/>
                <a:sym typeface="Arial"/>
              </a:rPr>
              <a:t>Health Searches &amp; Referrals in 2026</a:t>
            </a:r>
            <a:endParaRPr b="1" sz="2500"/>
          </a:p>
        </p:txBody>
      </p:sp>
      <p:pic>
        <p:nvPicPr>
          <p:cNvPr id="68" name="Google Shape;68;p9" title="ChatGPT Image Feb 4, 2026, 09_47_02 AM.png"/>
          <p:cNvPicPr preferRelativeResize="0"/>
          <p:nvPr/>
        </p:nvPicPr>
        <p:blipFill rotWithShape="1">
          <a:blip r:embed="rId3">
            <a:alphaModFix/>
          </a:blip>
          <a:srcRect b="23353" l="0" r="5042" t="16271"/>
          <a:stretch/>
        </p:blipFill>
        <p:spPr>
          <a:xfrm>
            <a:off x="5404850" y="1620900"/>
            <a:ext cx="3463700" cy="3303448"/>
          </a:xfrm>
          <a:prstGeom prst="rect">
            <a:avLst/>
          </a:prstGeom>
          <a:noFill/>
          <a:ln>
            <a:noFill/>
          </a:ln>
        </p:spPr>
      </p:pic>
      <p:sp>
        <p:nvSpPr>
          <p:cNvPr id="69" name="Google Shape;69;p9"/>
          <p:cNvSpPr txBox="1"/>
          <p:nvPr/>
        </p:nvSpPr>
        <p:spPr>
          <a:xfrm>
            <a:off x="381000" y="1587500"/>
            <a:ext cx="1333500" cy="787400"/>
          </a:xfrm>
          <a:prstGeom prst="rect">
            <a:avLst/>
          </a:prstGeom>
          <a:solidFill>
            <a:srgbClr val="7384D8"/>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FFFF"/>
                </a:solidFill>
                <a:latin typeface="Arial"/>
                <a:ea typeface="Arial"/>
                <a:cs typeface="Arial"/>
                <a:sym typeface="Arial"/>
              </a:rPr>
              <a:t>40M</a:t>
            </a:r>
            <a:endParaRPr/>
          </a:p>
        </p:txBody>
      </p:sp>
      <p:sp>
        <p:nvSpPr>
          <p:cNvPr id="70" name="Google Shape;70;p9"/>
          <p:cNvSpPr txBox="1"/>
          <p:nvPr/>
        </p:nvSpPr>
        <p:spPr>
          <a:xfrm>
            <a:off x="1714500" y="1587500"/>
            <a:ext cx="3429000" cy="787400"/>
          </a:xfrm>
          <a:prstGeom prst="rect">
            <a:avLst/>
          </a:prstGeom>
          <a:solidFill>
            <a:srgbClr val="EEF1FF"/>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40 million people</a:t>
            </a:r>
            <a:r>
              <a:rPr b="0" i="0" lang="en" sz="1600" u="none" cap="none" strike="noStrike">
                <a:solidFill>
                  <a:srgbClr val="1A1A1A"/>
                </a:solidFill>
                <a:latin typeface="Arial"/>
                <a:ea typeface="Arial"/>
                <a:cs typeface="Arial"/>
                <a:sym typeface="Arial"/>
              </a:rPr>
              <a:t> turn to ChatGPT </a:t>
            </a:r>
            <a:r>
              <a:rPr b="1" i="0" lang="en" sz="1600" u="none" cap="none" strike="noStrike">
                <a:solidFill>
                  <a:srgbClr val="1A1A1A"/>
                </a:solidFill>
                <a:latin typeface="Arial"/>
                <a:ea typeface="Arial"/>
                <a:cs typeface="Arial"/>
                <a:sym typeface="Arial"/>
              </a:rPr>
              <a:t>daily</a:t>
            </a:r>
            <a:r>
              <a:rPr b="0" i="0" lang="en" sz="1600" u="none" cap="none" strike="noStrike">
                <a:solidFill>
                  <a:srgbClr val="1A1A1A"/>
                </a:solidFill>
                <a:latin typeface="Arial"/>
                <a:ea typeface="Arial"/>
                <a:cs typeface="Arial"/>
                <a:sym typeface="Arial"/>
              </a:rPr>
              <a:t> for healthcare questions (OpenAI)</a:t>
            </a:r>
            <a:endParaRPr/>
          </a:p>
        </p:txBody>
      </p:sp>
      <p:sp>
        <p:nvSpPr>
          <p:cNvPr id="71" name="Google Shape;71;p9"/>
          <p:cNvSpPr txBox="1"/>
          <p:nvPr/>
        </p:nvSpPr>
        <p:spPr>
          <a:xfrm>
            <a:off x="381000" y="2451100"/>
            <a:ext cx="1333500" cy="1625600"/>
          </a:xfrm>
          <a:prstGeom prst="rect">
            <a:avLst/>
          </a:prstGeom>
          <a:solidFill>
            <a:srgbClr val="13207A"/>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FFFF"/>
                </a:solidFill>
                <a:latin typeface="Arial"/>
                <a:ea typeface="Arial"/>
                <a:cs typeface="Arial"/>
                <a:sym typeface="Arial"/>
              </a:rPr>
              <a:t>26%</a:t>
            </a:r>
            <a:endParaRPr/>
          </a:p>
        </p:txBody>
      </p:sp>
      <p:sp>
        <p:nvSpPr>
          <p:cNvPr id="72" name="Google Shape;72;p9"/>
          <p:cNvSpPr txBox="1"/>
          <p:nvPr/>
        </p:nvSpPr>
        <p:spPr>
          <a:xfrm>
            <a:off x="1714500" y="2451100"/>
            <a:ext cx="3429000" cy="1625600"/>
          </a:xfrm>
          <a:prstGeom prst="rect">
            <a:avLst/>
          </a:prstGeom>
          <a:solidFill>
            <a:srgbClr val="D2D9FF"/>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of patients</a:t>
            </a:r>
            <a:r>
              <a:rPr b="0" i="0" lang="en" sz="1600" u="none" cap="none" strike="noStrike">
                <a:solidFill>
                  <a:srgbClr val="1A1A1A"/>
                </a:solidFill>
                <a:latin typeface="Arial"/>
                <a:ea typeface="Arial"/>
                <a:cs typeface="Arial"/>
                <a:sym typeface="Arial"/>
              </a:rPr>
              <a:t> say AI recommendations directly influenced their choice of provider, nearly matching primary care referrals (28%) and online review sites (29%)</a:t>
            </a:r>
            <a:endParaRPr/>
          </a:p>
        </p:txBody>
      </p:sp>
      <p:sp>
        <p:nvSpPr>
          <p:cNvPr id="73" name="Google Shape;73;p9"/>
          <p:cNvSpPr txBox="1"/>
          <p:nvPr/>
        </p:nvSpPr>
        <p:spPr>
          <a:xfrm>
            <a:off x="381000" y="4152900"/>
            <a:ext cx="1333500" cy="787400"/>
          </a:xfrm>
          <a:prstGeom prst="rect">
            <a:avLst/>
          </a:prstGeom>
          <a:solidFill>
            <a:srgbClr val="7384D8"/>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FFFFFF"/>
                </a:solidFill>
                <a:latin typeface="Arial"/>
                <a:ea typeface="Arial"/>
                <a:cs typeface="Arial"/>
                <a:sym typeface="Arial"/>
              </a:rPr>
              <a:t>88%</a:t>
            </a:r>
            <a:endParaRPr/>
          </a:p>
        </p:txBody>
      </p:sp>
      <p:sp>
        <p:nvSpPr>
          <p:cNvPr id="74" name="Google Shape;74;p9"/>
          <p:cNvSpPr txBox="1"/>
          <p:nvPr/>
        </p:nvSpPr>
        <p:spPr>
          <a:xfrm>
            <a:off x="1714500" y="4152900"/>
            <a:ext cx="3429000" cy="787400"/>
          </a:xfrm>
          <a:prstGeom prst="rect">
            <a:avLst/>
          </a:prstGeom>
          <a:solidFill>
            <a:srgbClr val="EEF1FF"/>
          </a:solidFill>
          <a:ln>
            <a:noFill/>
          </a:ln>
        </p:spPr>
        <p:txBody>
          <a:bodyPr anchorCtr="0" anchor="ctr"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of health-related searches</a:t>
            </a:r>
            <a:r>
              <a:rPr b="0" i="0" lang="en" sz="1600" u="none" cap="none" strike="noStrike">
                <a:solidFill>
                  <a:srgbClr val="1A1A1A"/>
                </a:solidFill>
                <a:latin typeface="Arial"/>
                <a:ea typeface="Arial"/>
                <a:cs typeface="Arial"/>
                <a:sym typeface="Arial"/>
              </a:rPr>
              <a:t> now trigger an AI Overview</a:t>
            </a:r>
            <a:endParaRPr/>
          </a:p>
        </p:txBody>
      </p:sp>
      <p:sp>
        <p:nvSpPr>
          <p:cNvPr id="75" name="Google Shape;75;p9"/>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0"/>
          <p:cNvSpPr txBox="1"/>
          <p:nvPr>
            <p:ph type="ctrTitle"/>
          </p:nvPr>
        </p:nvSpPr>
        <p:spPr>
          <a:xfrm>
            <a:off x="1524000" y="279400"/>
            <a:ext cx="6096000" cy="965200"/>
          </a:xfrm>
          <a:prstGeom prst="rect">
            <a:avLst/>
          </a:prstGeom>
          <a:noFill/>
          <a:ln>
            <a:noFill/>
          </a:ln>
        </p:spPr>
        <p:txBody>
          <a:bodyPr anchorCtr="0" anchor="b" bIns="91425" lIns="91425" spcFirstLastPara="1" rIns="91425" wrap="square" tIns="91425">
            <a:noAutofit/>
          </a:bodyPr>
          <a:lstStyle/>
          <a:p>
            <a:pPr indent="0" lvl="0" marL="0" rtl="0" algn="ctr">
              <a:lnSpc>
                <a:spcPct val="90000"/>
              </a:lnSpc>
              <a:spcBef>
                <a:spcPts val="0"/>
              </a:spcBef>
              <a:spcAft>
                <a:spcPts val="0"/>
              </a:spcAft>
              <a:buSzPts val="2000"/>
              <a:buNone/>
            </a:pPr>
            <a:r>
              <a:rPr b="1" i="0" lang="en" sz="2500" u="none">
                <a:latin typeface="Arial"/>
                <a:ea typeface="Arial"/>
                <a:cs typeface="Arial"/>
                <a:sym typeface="Arial"/>
              </a:rPr>
              <a:t>When AI Plays Doctor:</a:t>
            </a:r>
            <a:endParaRPr/>
          </a:p>
          <a:p>
            <a:pPr indent="0" lvl="0" marL="0" rtl="0" algn="ctr">
              <a:lnSpc>
                <a:spcPct val="90000"/>
              </a:lnSpc>
              <a:spcBef>
                <a:spcPts val="0"/>
              </a:spcBef>
              <a:spcAft>
                <a:spcPts val="0"/>
              </a:spcAft>
              <a:buSzPts val="2000"/>
              <a:buNone/>
            </a:pPr>
            <a:r>
              <a:rPr b="1" i="0" lang="en" sz="2500" u="none">
                <a:latin typeface="Arial"/>
                <a:ea typeface="Arial"/>
                <a:cs typeface="Arial"/>
                <a:sym typeface="Arial"/>
              </a:rPr>
              <a:t>Health-Specific AI Search Tools</a:t>
            </a:r>
            <a:endParaRPr/>
          </a:p>
        </p:txBody>
      </p:sp>
      <p:pic>
        <p:nvPicPr>
          <p:cNvPr id="81" name="Google Shape;81;p10" title="Screenshot 2026-02-04 at 9.53.52 AM.png"/>
          <p:cNvPicPr preferRelativeResize="0"/>
          <p:nvPr/>
        </p:nvPicPr>
        <p:blipFill rotWithShape="1">
          <a:blip r:embed="rId3">
            <a:alphaModFix/>
          </a:blip>
          <a:srcRect b="0" l="0" r="0" t="6314"/>
          <a:stretch/>
        </p:blipFill>
        <p:spPr>
          <a:xfrm>
            <a:off x="406400" y="1524000"/>
            <a:ext cx="3983851" cy="3334899"/>
          </a:xfrm>
          <a:prstGeom prst="rect">
            <a:avLst/>
          </a:prstGeom>
          <a:noFill/>
          <a:ln>
            <a:noFill/>
          </a:ln>
        </p:spPr>
      </p:pic>
      <p:sp>
        <p:nvSpPr>
          <p:cNvPr id="82" name="Google Shape;82;p10"/>
          <p:cNvSpPr txBox="1"/>
          <p:nvPr/>
        </p:nvSpPr>
        <p:spPr>
          <a:xfrm>
            <a:off x="4572000" y="1498600"/>
            <a:ext cx="4254500" cy="838200"/>
          </a:xfrm>
          <a:prstGeom prst="rect">
            <a:avLst/>
          </a:prstGeom>
          <a:solidFill>
            <a:srgbClr val="EEF1FF"/>
          </a:solidFill>
          <a:ln>
            <a:noFill/>
          </a:ln>
        </p:spPr>
        <p:txBody>
          <a:bodyPr anchorCtr="0" anchor="ctr" bIns="63500" lIns="127000" spcFirstLastPara="1" rIns="127000" wrap="square" tIns="635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ChatGPT Health (OpenAI):</a:t>
            </a:r>
            <a:r>
              <a:rPr b="0" i="0" lang="en" sz="1600" u="none" cap="none" strike="noStrike">
                <a:solidFill>
                  <a:srgbClr val="0B1A7D"/>
                </a:solidFill>
                <a:latin typeface="Arial"/>
                <a:ea typeface="Arial"/>
                <a:cs typeface="Arial"/>
                <a:sym typeface="Arial"/>
              </a:rPr>
              <a:t> launched Jan 2026; uses personal health data for specialist routing.</a:t>
            </a:r>
            <a:endParaRPr/>
          </a:p>
        </p:txBody>
      </p:sp>
      <p:sp>
        <p:nvSpPr>
          <p:cNvPr id="83" name="Google Shape;83;p10"/>
          <p:cNvSpPr txBox="1"/>
          <p:nvPr/>
        </p:nvSpPr>
        <p:spPr>
          <a:xfrm>
            <a:off x="4572000" y="2413000"/>
            <a:ext cx="4254500" cy="609600"/>
          </a:xfrm>
          <a:prstGeom prst="rect">
            <a:avLst/>
          </a:prstGeom>
          <a:solidFill>
            <a:srgbClr val="EEF1FF"/>
          </a:solidFill>
          <a:ln>
            <a:noFill/>
          </a:ln>
        </p:spPr>
        <p:txBody>
          <a:bodyPr anchorCtr="0" anchor="ctr" bIns="63500" lIns="127000" spcFirstLastPara="1" rIns="127000" wrap="square" tIns="635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MedGemma (Google):</a:t>
            </a:r>
            <a:r>
              <a:rPr b="0" i="0" lang="en" sz="1600" u="none" cap="none" strike="noStrike">
                <a:solidFill>
                  <a:srgbClr val="0B1A7D"/>
                </a:solidFill>
                <a:latin typeface="Arial"/>
                <a:ea typeface="Arial"/>
                <a:cs typeface="Arial"/>
                <a:sym typeface="Arial"/>
              </a:rPr>
              <a:t> clinical-grade AI that prioritizes </a:t>
            </a:r>
            <a:r>
              <a:rPr b="1" i="0" lang="en" sz="1600" u="none" cap="none" strike="noStrike">
                <a:solidFill>
                  <a:srgbClr val="0B1A7D"/>
                </a:solidFill>
                <a:latin typeface="Arial"/>
                <a:ea typeface="Arial"/>
                <a:cs typeface="Arial"/>
                <a:sym typeface="Arial"/>
              </a:rPr>
              <a:t>medical authority</a:t>
            </a:r>
            <a:r>
              <a:rPr b="0" i="0" lang="en" sz="1600" u="none" cap="none" strike="noStrike">
                <a:solidFill>
                  <a:srgbClr val="0B1A7D"/>
                </a:solidFill>
                <a:latin typeface="Arial"/>
                <a:ea typeface="Arial"/>
                <a:cs typeface="Arial"/>
                <a:sym typeface="Arial"/>
              </a:rPr>
              <a:t>.</a:t>
            </a:r>
            <a:endParaRPr/>
          </a:p>
        </p:txBody>
      </p:sp>
      <p:sp>
        <p:nvSpPr>
          <p:cNvPr id="84" name="Google Shape;84;p10"/>
          <p:cNvSpPr txBox="1"/>
          <p:nvPr/>
        </p:nvSpPr>
        <p:spPr>
          <a:xfrm>
            <a:off x="4572000" y="3098800"/>
            <a:ext cx="1143000" cy="838200"/>
          </a:xfrm>
          <a:prstGeom prst="rect">
            <a:avLst/>
          </a:prstGeom>
          <a:solidFill>
            <a:srgbClr val="7384D8"/>
          </a:solidFill>
          <a:ln>
            <a:noFill/>
          </a:ln>
        </p:spPr>
        <p:txBody>
          <a:bodyPr anchorCtr="0" anchor="ctr" bIns="63500" lIns="127000" spcFirstLastPara="1" rIns="127000" wrap="square" tIns="63500">
            <a:noAutofit/>
          </a:bodyPr>
          <a:lstStyle/>
          <a:p>
            <a:pPr indent="0" lvl="0" marL="0" marR="0" rtl="0" algn="ctr">
              <a:lnSpc>
                <a:spcPct val="100000"/>
              </a:lnSpc>
              <a:spcBef>
                <a:spcPts val="0"/>
              </a:spcBef>
              <a:spcAft>
                <a:spcPts val="0"/>
              </a:spcAft>
              <a:buClr>
                <a:srgbClr val="000000"/>
              </a:buClr>
              <a:buSzPts val="3400"/>
              <a:buFont typeface="Arial"/>
              <a:buNone/>
            </a:pPr>
            <a:r>
              <a:rPr b="1" i="0" lang="en" sz="3400" u="none" cap="none" strike="noStrike">
                <a:solidFill>
                  <a:srgbClr val="FFFFFF"/>
                </a:solidFill>
                <a:latin typeface="Arial"/>
                <a:ea typeface="Arial"/>
                <a:cs typeface="Arial"/>
                <a:sym typeface="Arial"/>
              </a:rPr>
              <a:t>40%</a:t>
            </a:r>
            <a:endParaRPr/>
          </a:p>
        </p:txBody>
      </p:sp>
      <p:sp>
        <p:nvSpPr>
          <p:cNvPr id="85" name="Google Shape;85;p10"/>
          <p:cNvSpPr txBox="1"/>
          <p:nvPr/>
        </p:nvSpPr>
        <p:spPr>
          <a:xfrm>
            <a:off x="5715000" y="3098800"/>
            <a:ext cx="3111500" cy="838200"/>
          </a:xfrm>
          <a:prstGeom prst="rect">
            <a:avLst/>
          </a:prstGeom>
          <a:solidFill>
            <a:srgbClr val="D2D9FF"/>
          </a:solidFill>
          <a:ln>
            <a:noFill/>
          </a:ln>
        </p:spPr>
        <p:txBody>
          <a:bodyPr anchorCtr="0" anchor="ctr" bIns="63500" lIns="127000" spcFirstLastPara="1" rIns="127000" wrap="square" tIns="6350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B1A7D"/>
                </a:solidFill>
                <a:latin typeface="Arial"/>
                <a:ea typeface="Arial"/>
                <a:cs typeface="Arial"/>
                <a:sym typeface="Arial"/>
              </a:rPr>
              <a:t>of </a:t>
            </a:r>
            <a:r>
              <a:rPr b="1" i="0" lang="en" sz="1600" u="none" cap="none" strike="noStrike">
                <a:solidFill>
                  <a:srgbClr val="0B1A7D"/>
                </a:solidFill>
                <a:latin typeface="Arial"/>
                <a:ea typeface="Arial"/>
                <a:cs typeface="Arial"/>
                <a:sym typeface="Arial"/>
              </a:rPr>
              <a:t>US physicians</a:t>
            </a:r>
            <a:r>
              <a:rPr b="0" i="0" lang="en" sz="1600" u="none" cap="none" strike="noStrike">
                <a:solidFill>
                  <a:srgbClr val="0B1A7D"/>
                </a:solidFill>
                <a:latin typeface="Arial"/>
                <a:ea typeface="Arial"/>
                <a:cs typeface="Arial"/>
                <a:sym typeface="Arial"/>
              </a:rPr>
              <a:t> use </a:t>
            </a:r>
            <a:r>
              <a:rPr b="1" i="0" lang="en" sz="1600" u="none" cap="none" strike="noStrike">
                <a:solidFill>
                  <a:srgbClr val="0B1A7D"/>
                </a:solidFill>
                <a:latin typeface="Arial"/>
                <a:ea typeface="Arial"/>
                <a:cs typeface="Arial"/>
                <a:sym typeface="Arial"/>
              </a:rPr>
              <a:t>OpenEvidence</a:t>
            </a:r>
            <a:r>
              <a:rPr b="0" i="0" lang="en" sz="1600" u="none" cap="none" strike="noStrike">
                <a:solidFill>
                  <a:srgbClr val="0B1A7D"/>
                </a:solidFill>
                <a:latin typeface="Arial"/>
                <a:ea typeface="Arial"/>
                <a:cs typeface="Arial"/>
                <a:sym typeface="Arial"/>
              </a:rPr>
              <a:t> for clinical evidence.</a:t>
            </a:r>
            <a:endParaRPr/>
          </a:p>
        </p:txBody>
      </p:sp>
      <p:sp>
        <p:nvSpPr>
          <p:cNvPr id="86" name="Google Shape;86;p10"/>
          <p:cNvSpPr txBox="1"/>
          <p:nvPr/>
        </p:nvSpPr>
        <p:spPr>
          <a:xfrm>
            <a:off x="4572000" y="4013200"/>
            <a:ext cx="4254500" cy="889000"/>
          </a:xfrm>
          <a:prstGeom prst="rect">
            <a:avLst/>
          </a:prstGeom>
          <a:solidFill>
            <a:srgbClr val="0B1A7D"/>
          </a:solidFill>
          <a:ln>
            <a:noFill/>
          </a:ln>
        </p:spPr>
        <p:txBody>
          <a:bodyPr anchorCtr="0" anchor="ctr" bIns="63500" lIns="127000" spcFirstLastPara="1" rIns="127000" wrap="square" tIns="635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The Strategy:</a:t>
            </a:r>
            <a:r>
              <a:rPr b="0" i="0" lang="en" sz="1600" u="none" cap="none" strike="noStrike">
                <a:solidFill>
                  <a:srgbClr val="FFFFFF"/>
                </a:solidFill>
                <a:latin typeface="Arial"/>
                <a:ea typeface="Arial"/>
                <a:cs typeface="Arial"/>
                <a:sym typeface="Arial"/>
              </a:rPr>
              <a:t> these models don't guess; they crawl trusted sources like </a:t>
            </a:r>
            <a:r>
              <a:rPr b="1" i="0" lang="en" sz="1600" u="none" cap="none" strike="noStrike">
                <a:solidFill>
                  <a:srgbClr val="FFFFFF"/>
                </a:solidFill>
                <a:latin typeface="Arial"/>
                <a:ea typeface="Arial"/>
                <a:cs typeface="Arial"/>
                <a:sym typeface="Arial"/>
              </a:rPr>
              <a:t>WebMD</a:t>
            </a:r>
            <a:r>
              <a:rPr b="0" i="0" lang="en" sz="1600" u="none" cap="none" strike="noStrike">
                <a:solidFill>
                  <a:srgbClr val="FFFFFF"/>
                </a:solidFill>
                <a:latin typeface="Arial"/>
                <a:ea typeface="Arial"/>
                <a:cs typeface="Arial"/>
                <a:sym typeface="Arial"/>
              </a:rPr>
              <a:t> to minimize clinical risk.</a:t>
            </a:r>
            <a:endParaRPr/>
          </a:p>
        </p:txBody>
      </p:sp>
      <p:sp>
        <p:nvSpPr>
          <p:cNvPr id="87" name="Google Shape;87;p10"/>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4</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1"/>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i="0" lang="en" sz="2500" u="none">
                <a:latin typeface="Arial"/>
                <a:ea typeface="Arial"/>
                <a:cs typeface="Arial"/>
                <a:sym typeface="Arial"/>
              </a:rPr>
              <a:t>Why Patients Are Quitting Traditional Google</a:t>
            </a:r>
            <a:endParaRPr/>
          </a:p>
        </p:txBody>
      </p:sp>
      <p:pic>
        <p:nvPicPr>
          <p:cNvPr id="93" name="Google Shape;93;p11" title="ChatGPT Image Feb 4, 2026, 09_54_48 AM.png"/>
          <p:cNvPicPr preferRelativeResize="0"/>
          <p:nvPr/>
        </p:nvPicPr>
        <p:blipFill rotWithShape="1">
          <a:blip r:embed="rId3">
            <a:alphaModFix/>
          </a:blip>
          <a:srcRect b="14071" l="0" r="0" t="5980"/>
          <a:stretch/>
        </p:blipFill>
        <p:spPr>
          <a:xfrm>
            <a:off x="1003300" y="1524000"/>
            <a:ext cx="2819226" cy="3381024"/>
          </a:xfrm>
          <a:prstGeom prst="rect">
            <a:avLst/>
          </a:prstGeom>
          <a:noFill/>
          <a:ln>
            <a:noFill/>
          </a:ln>
        </p:spPr>
      </p:pic>
      <p:sp>
        <p:nvSpPr>
          <p:cNvPr id="94" name="Google Shape;94;p11"/>
          <p:cNvSpPr txBox="1"/>
          <p:nvPr/>
        </p:nvSpPr>
        <p:spPr>
          <a:xfrm>
            <a:off x="4572000" y="1498600"/>
            <a:ext cx="2070100" cy="2286000"/>
          </a:xfrm>
          <a:prstGeom prst="rect">
            <a:avLst/>
          </a:prstGeom>
          <a:solidFill>
            <a:srgbClr val="EEF1FF"/>
          </a:solidFill>
          <a:ln>
            <a:noFill/>
          </a:ln>
        </p:spPr>
        <p:txBody>
          <a:bodyPr anchorCtr="0" anchor="t" bIns="101600" lIns="127000" spcFirstLastPara="1" rIns="1270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Old Way</a:t>
            </a: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Keywords</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B1A7D"/>
                </a:solidFill>
                <a:latin typeface="Arial"/>
                <a:ea typeface="Arial"/>
                <a:cs typeface="Arial"/>
                <a:sym typeface="Arial"/>
              </a:rPr>
              <a:t>Patient types </a:t>
            </a:r>
            <a:r>
              <a:rPr b="0" i="1" lang="en" sz="1600" u="none" cap="none" strike="noStrike">
                <a:solidFill>
                  <a:srgbClr val="0B1A7D"/>
                </a:solidFill>
                <a:latin typeface="Arial"/>
                <a:ea typeface="Arial"/>
                <a:cs typeface="Arial"/>
                <a:sym typeface="Arial"/>
              </a:rPr>
              <a:t>"Dermatologist Dallas,"</a:t>
            </a:r>
            <a:r>
              <a:rPr b="0" i="0" lang="en" sz="1600" u="none" cap="none" strike="noStrike">
                <a:solidFill>
                  <a:srgbClr val="0B1A7D"/>
                </a:solidFill>
                <a:latin typeface="Arial"/>
                <a:ea typeface="Arial"/>
                <a:cs typeface="Arial"/>
                <a:sym typeface="Arial"/>
              </a:rPr>
              <a:t> scans a list, then clicks a link.</a:t>
            </a:r>
            <a:endParaRPr/>
          </a:p>
        </p:txBody>
      </p:sp>
      <p:sp>
        <p:nvSpPr>
          <p:cNvPr id="95" name="Google Shape;95;p11"/>
          <p:cNvSpPr txBox="1"/>
          <p:nvPr/>
        </p:nvSpPr>
        <p:spPr>
          <a:xfrm>
            <a:off x="6743700" y="1498600"/>
            <a:ext cx="2082800" cy="2286000"/>
          </a:xfrm>
          <a:prstGeom prst="rect">
            <a:avLst/>
          </a:prstGeom>
          <a:solidFill>
            <a:srgbClr val="D2D9FF"/>
          </a:solidFill>
          <a:ln>
            <a:noFill/>
          </a:ln>
        </p:spPr>
        <p:txBody>
          <a:bodyPr anchorCtr="0" anchor="t" bIns="101600" lIns="127000" spcFirstLastPara="1" rIns="1270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New Way</a:t>
            </a:r>
            <a:endParaRPr/>
          </a:p>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0B1A7D"/>
                </a:solidFill>
                <a:latin typeface="Arial"/>
                <a:ea typeface="Arial"/>
                <a:cs typeface="Arial"/>
                <a:sym typeface="Arial"/>
              </a:rPr>
              <a:t>Conversational</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0B1A7D"/>
                </a:solidFill>
                <a:latin typeface="Arial"/>
                <a:ea typeface="Arial"/>
                <a:cs typeface="Arial"/>
                <a:sym typeface="Arial"/>
              </a:rPr>
              <a:t>Patient asks </a:t>
            </a:r>
            <a:r>
              <a:rPr b="0" i="1" lang="en" sz="1600" u="none" cap="none" strike="noStrike">
                <a:solidFill>
                  <a:srgbClr val="0B1A7D"/>
                </a:solidFill>
                <a:latin typeface="Arial"/>
                <a:ea typeface="Arial"/>
                <a:cs typeface="Arial"/>
                <a:sym typeface="Arial"/>
              </a:rPr>
              <a:t>"Who's the best pediatrician in my area for asthma who offers same-day appointments?"</a:t>
            </a:r>
            <a:endParaRPr/>
          </a:p>
        </p:txBody>
      </p:sp>
      <p:sp>
        <p:nvSpPr>
          <p:cNvPr id="96" name="Google Shape;96;p11"/>
          <p:cNvSpPr txBox="1"/>
          <p:nvPr/>
        </p:nvSpPr>
        <p:spPr>
          <a:xfrm>
            <a:off x="4572000" y="3886200"/>
            <a:ext cx="4254500" cy="1016000"/>
          </a:xfrm>
          <a:prstGeom prst="rect">
            <a:avLst/>
          </a:prstGeom>
          <a:solidFill>
            <a:srgbClr val="0B1A7D"/>
          </a:solidFill>
          <a:ln>
            <a:noFill/>
          </a:ln>
        </p:spPr>
        <p:txBody>
          <a:bodyPr anchorCtr="0" anchor="ctr" bIns="101600" lIns="127000" spcFirstLastPara="1" rIns="1270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The Difference:</a:t>
            </a:r>
            <a:r>
              <a:rPr b="0" i="0" lang="en" sz="1600" u="none" cap="none" strike="noStrike">
                <a:solidFill>
                  <a:srgbClr val="FFFFFF"/>
                </a:solidFill>
                <a:latin typeface="Arial"/>
                <a:ea typeface="Arial"/>
                <a:cs typeface="Arial"/>
                <a:sym typeface="Arial"/>
              </a:rPr>
              <a:t> AI interprets </a:t>
            </a:r>
            <a:r>
              <a:rPr b="1" i="0" lang="en" sz="1600" u="none" cap="none" strike="noStrike">
                <a:solidFill>
                  <a:srgbClr val="FFFFFF"/>
                </a:solidFill>
                <a:latin typeface="Arial"/>
                <a:ea typeface="Arial"/>
                <a:cs typeface="Arial"/>
                <a:sym typeface="Arial"/>
              </a:rPr>
              <a:t>intent and nuance</a:t>
            </a:r>
            <a:r>
              <a:rPr b="0" i="0" lang="en" sz="1600" u="none" cap="none" strike="noStrike">
                <a:solidFill>
                  <a:srgbClr val="FFFFFF"/>
                </a:solidFill>
                <a:latin typeface="Arial"/>
                <a:ea typeface="Arial"/>
                <a:cs typeface="Arial"/>
                <a:sym typeface="Arial"/>
              </a:rPr>
              <a:t>. If a physician's data can't answer nuanced questions, they are </a:t>
            </a:r>
            <a:r>
              <a:rPr b="1" i="0" lang="en" sz="1600" u="none" cap="none" strike="noStrike">
                <a:solidFill>
                  <a:srgbClr val="FFFFFF"/>
                </a:solidFill>
                <a:latin typeface="Arial"/>
                <a:ea typeface="Arial"/>
                <a:cs typeface="Arial"/>
                <a:sym typeface="Arial"/>
              </a:rPr>
              <a:t>invisible</a:t>
            </a:r>
            <a:r>
              <a:rPr b="0" i="0" lang="en" sz="1600" u="none" cap="none" strike="noStrike">
                <a:solidFill>
                  <a:srgbClr val="FFFFFF"/>
                </a:solidFill>
                <a:latin typeface="Arial"/>
                <a:ea typeface="Arial"/>
                <a:cs typeface="Arial"/>
                <a:sym typeface="Arial"/>
              </a:rPr>
              <a:t>.</a:t>
            </a:r>
            <a:endParaRPr/>
          </a:p>
        </p:txBody>
      </p:sp>
      <p:sp>
        <p:nvSpPr>
          <p:cNvPr id="97" name="Google Shape;97;p11"/>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5</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2"/>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From Browsing Links to Getting Answers</a:t>
            </a:r>
            <a:endParaRPr b="1" sz="2500"/>
          </a:p>
        </p:txBody>
      </p:sp>
      <p:pic>
        <p:nvPicPr>
          <p:cNvPr id="103" name="Google Shape;103;p12" title="Screenshot 2026-02-04 at 9.52.32 AM.png"/>
          <p:cNvPicPr preferRelativeResize="0"/>
          <p:nvPr/>
        </p:nvPicPr>
        <p:blipFill rotWithShape="1">
          <a:blip r:embed="rId3">
            <a:alphaModFix/>
          </a:blip>
          <a:srcRect b="0" l="0" r="1147" t="0"/>
          <a:stretch/>
        </p:blipFill>
        <p:spPr>
          <a:xfrm>
            <a:off x="5291475" y="1631625"/>
            <a:ext cx="3626899" cy="3180275"/>
          </a:xfrm>
          <a:prstGeom prst="rect">
            <a:avLst/>
          </a:prstGeom>
          <a:noFill/>
          <a:ln>
            <a:noFill/>
          </a:ln>
        </p:spPr>
      </p:pic>
      <p:sp>
        <p:nvSpPr>
          <p:cNvPr id="104" name="Google Shape;104;p12"/>
          <p:cNvSpPr txBox="1"/>
          <p:nvPr/>
        </p:nvSpPr>
        <p:spPr>
          <a:xfrm>
            <a:off x="355600" y="1549400"/>
            <a:ext cx="4775200" cy="1168400"/>
          </a:xfrm>
          <a:prstGeom prst="rect">
            <a:avLst/>
          </a:prstGeom>
          <a:solidFill>
            <a:srgbClr val="EEF1FF"/>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1A1A"/>
                </a:solidFill>
                <a:latin typeface="Arial"/>
                <a:ea typeface="Arial"/>
                <a:cs typeface="Arial"/>
                <a:sym typeface="Arial"/>
              </a:rPr>
              <a:t>Patients now get an answer </a:t>
            </a:r>
            <a:r>
              <a:rPr b="1" i="1" lang="en" sz="1600" u="none" cap="none" strike="noStrike">
                <a:solidFill>
                  <a:srgbClr val="1A1A1A"/>
                </a:solidFill>
                <a:latin typeface="Arial"/>
                <a:ea typeface="Arial"/>
                <a:cs typeface="Arial"/>
                <a:sym typeface="Arial"/>
              </a:rPr>
              <a:t>before</a:t>
            </a:r>
            <a:r>
              <a:rPr b="0" i="0" lang="en" sz="1600" u="none" cap="none" strike="noStrike">
                <a:solidFill>
                  <a:srgbClr val="1A1A1A"/>
                </a:solidFill>
                <a:latin typeface="Arial"/>
                <a:ea typeface="Arial"/>
                <a:cs typeface="Arial"/>
                <a:sym typeface="Arial"/>
              </a:rPr>
              <a:t> they see a practice website.</a:t>
            </a:r>
            <a:endParaRPr/>
          </a:p>
          <a:p>
            <a:pPr indent="0" lvl="0" marL="0" marR="0" rtl="0" algn="l">
              <a:lnSpc>
                <a:spcPct val="100000"/>
              </a:lnSpc>
              <a:spcBef>
                <a:spcPts val="400"/>
              </a:spcBef>
              <a:spcAft>
                <a:spcPts val="0"/>
              </a:spcAft>
              <a:buClr>
                <a:srgbClr val="000000"/>
              </a:buClr>
              <a:buSzPts val="1600"/>
              <a:buFont typeface="Arial"/>
              <a:buNone/>
            </a:pPr>
            <a:r>
              <a:rPr b="0" i="0" lang="en" sz="1600" u="none" cap="none" strike="noStrike">
                <a:solidFill>
                  <a:srgbClr val="1A1A1A"/>
                </a:solidFill>
                <a:latin typeface="Arial"/>
                <a:ea typeface="Arial"/>
                <a:cs typeface="Arial"/>
                <a:sym typeface="Arial"/>
              </a:rPr>
              <a:t>Visibility is no longer just </a:t>
            </a:r>
            <a:r>
              <a:rPr b="0" i="1" lang="en" sz="1600" u="none" cap="none" strike="noStrike">
                <a:solidFill>
                  <a:srgbClr val="1A1A1A"/>
                </a:solidFill>
                <a:latin typeface="Arial"/>
                <a:ea typeface="Arial"/>
                <a:cs typeface="Arial"/>
                <a:sym typeface="Arial"/>
              </a:rPr>
              <a:t>ranking</a:t>
            </a:r>
            <a:r>
              <a:rPr b="0" i="0" lang="en" sz="1600" u="none" cap="none" strike="noStrike">
                <a:solidFill>
                  <a:srgbClr val="1A1A1A"/>
                </a:solidFill>
                <a:latin typeface="Arial"/>
                <a:ea typeface="Arial"/>
                <a:cs typeface="Arial"/>
                <a:sym typeface="Arial"/>
              </a:rPr>
              <a:t>; it's being </a:t>
            </a:r>
            <a:r>
              <a:rPr b="1" i="0" lang="en" sz="1600" u="none" cap="none" strike="noStrike">
                <a:solidFill>
                  <a:srgbClr val="1A1A1A"/>
                </a:solidFill>
                <a:latin typeface="Arial"/>
                <a:ea typeface="Arial"/>
                <a:cs typeface="Arial"/>
                <a:sym typeface="Arial"/>
              </a:rPr>
              <a:t>featured in the AI Overview</a:t>
            </a:r>
            <a:r>
              <a:rPr b="0" i="0" lang="en" sz="1600" u="none" cap="none" strike="noStrike">
                <a:solidFill>
                  <a:srgbClr val="1A1A1A"/>
                </a:solidFill>
                <a:latin typeface="Arial"/>
                <a:ea typeface="Arial"/>
                <a:cs typeface="Arial"/>
                <a:sym typeface="Arial"/>
              </a:rPr>
              <a:t>.</a:t>
            </a:r>
            <a:endParaRPr/>
          </a:p>
        </p:txBody>
      </p:sp>
      <p:sp>
        <p:nvSpPr>
          <p:cNvPr id="105" name="Google Shape;105;p12"/>
          <p:cNvSpPr txBox="1"/>
          <p:nvPr/>
        </p:nvSpPr>
        <p:spPr>
          <a:xfrm>
            <a:off x="355600" y="2768600"/>
            <a:ext cx="4775200" cy="304800"/>
          </a:xfrm>
          <a:prstGeom prst="rect">
            <a:avLst/>
          </a:prstGeom>
          <a:noFill/>
          <a:ln>
            <a:noFill/>
          </a:ln>
        </p:spPr>
        <p:txBody>
          <a:bodyPr anchorCtr="0" anchor="t" bIns="25400" lIns="0" spcFirstLastPara="1" rIns="127000" wrap="square" tIns="254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Users rely on AI to summarize three things:</a:t>
            </a:r>
            <a:endParaRPr/>
          </a:p>
        </p:txBody>
      </p:sp>
      <p:sp>
        <p:nvSpPr>
          <p:cNvPr id="106" name="Google Shape;106;p12"/>
          <p:cNvSpPr txBox="1"/>
          <p:nvPr/>
        </p:nvSpPr>
        <p:spPr>
          <a:xfrm>
            <a:off x="355600" y="3124200"/>
            <a:ext cx="508000" cy="558800"/>
          </a:xfrm>
          <a:prstGeom prst="rect">
            <a:avLst/>
          </a:prstGeom>
          <a:solidFill>
            <a:srgbClr val="7384D8"/>
          </a:solidFill>
          <a:ln>
            <a:noFill/>
          </a:ln>
        </p:spPr>
        <p:txBody>
          <a:bodyPr anchorCtr="0" anchor="ctr" bIns="76200" lIns="0" spcFirstLastPara="1" rIns="0" wrap="square" tIns="762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1</a:t>
            </a:r>
            <a:endParaRPr/>
          </a:p>
        </p:txBody>
      </p:sp>
      <p:sp>
        <p:nvSpPr>
          <p:cNvPr id="107" name="Google Shape;107;p12"/>
          <p:cNvSpPr txBox="1"/>
          <p:nvPr/>
        </p:nvSpPr>
        <p:spPr>
          <a:xfrm>
            <a:off x="914400" y="3124200"/>
            <a:ext cx="4216400" cy="558800"/>
          </a:xfrm>
          <a:prstGeom prst="rect">
            <a:avLst/>
          </a:prstGeom>
          <a:solidFill>
            <a:srgbClr val="D2D9FF"/>
          </a:solidFill>
          <a:ln>
            <a:noFill/>
          </a:ln>
        </p:spPr>
        <p:txBody>
          <a:bodyPr anchorCtr="0" anchor="ctr" bIns="38100" lIns="127000" spcFirstLastPara="1" rIns="127000" wrap="square" tIns="381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Provider Credentials:</a:t>
            </a:r>
            <a:r>
              <a:rPr b="0" i="0" lang="en" sz="1600" u="none" cap="none" strike="noStrike">
                <a:solidFill>
                  <a:srgbClr val="1A1A1A"/>
                </a:solidFill>
                <a:latin typeface="Arial"/>
                <a:ea typeface="Arial"/>
                <a:cs typeface="Arial"/>
                <a:sym typeface="Arial"/>
              </a:rPr>
              <a:t> board certifications, years in practice</a:t>
            </a:r>
            <a:endParaRPr/>
          </a:p>
        </p:txBody>
      </p:sp>
      <p:sp>
        <p:nvSpPr>
          <p:cNvPr id="108" name="Google Shape;108;p12"/>
          <p:cNvSpPr txBox="1"/>
          <p:nvPr/>
        </p:nvSpPr>
        <p:spPr>
          <a:xfrm>
            <a:off x="355600" y="3746500"/>
            <a:ext cx="508000" cy="558800"/>
          </a:xfrm>
          <a:prstGeom prst="rect">
            <a:avLst/>
          </a:prstGeom>
          <a:solidFill>
            <a:srgbClr val="7384D8"/>
          </a:solidFill>
          <a:ln>
            <a:noFill/>
          </a:ln>
        </p:spPr>
        <p:txBody>
          <a:bodyPr anchorCtr="0" anchor="ctr" bIns="76200" lIns="0" spcFirstLastPara="1" rIns="0" wrap="square" tIns="762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2</a:t>
            </a:r>
            <a:endParaRPr/>
          </a:p>
        </p:txBody>
      </p:sp>
      <p:sp>
        <p:nvSpPr>
          <p:cNvPr id="109" name="Google Shape;109;p12"/>
          <p:cNvSpPr txBox="1"/>
          <p:nvPr/>
        </p:nvSpPr>
        <p:spPr>
          <a:xfrm>
            <a:off x="914400" y="3746500"/>
            <a:ext cx="4216400" cy="558800"/>
          </a:xfrm>
          <a:prstGeom prst="rect">
            <a:avLst/>
          </a:prstGeom>
          <a:solidFill>
            <a:srgbClr val="D2D9FF"/>
          </a:solidFill>
          <a:ln>
            <a:noFill/>
          </a:ln>
        </p:spPr>
        <p:txBody>
          <a:bodyPr anchorCtr="0" anchor="ctr" bIns="38100" lIns="127000" spcFirstLastPara="1" rIns="127000" wrap="square" tIns="381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Real-Time Availability:</a:t>
            </a:r>
            <a:r>
              <a:rPr b="0" i="0" lang="en" sz="1600" u="none" cap="none" strike="noStrike">
                <a:solidFill>
                  <a:srgbClr val="1A1A1A"/>
                </a:solidFill>
                <a:latin typeface="Arial"/>
                <a:ea typeface="Arial"/>
                <a:cs typeface="Arial"/>
                <a:sym typeface="Arial"/>
              </a:rPr>
              <a:t> Can I get in today?</a:t>
            </a:r>
            <a:endParaRPr/>
          </a:p>
        </p:txBody>
      </p:sp>
      <p:sp>
        <p:nvSpPr>
          <p:cNvPr id="110" name="Google Shape;110;p12"/>
          <p:cNvSpPr txBox="1"/>
          <p:nvPr/>
        </p:nvSpPr>
        <p:spPr>
          <a:xfrm>
            <a:off x="355600" y="4368800"/>
            <a:ext cx="508000" cy="558800"/>
          </a:xfrm>
          <a:prstGeom prst="rect">
            <a:avLst/>
          </a:prstGeom>
          <a:solidFill>
            <a:srgbClr val="7384D8"/>
          </a:solidFill>
          <a:ln>
            <a:noFill/>
          </a:ln>
        </p:spPr>
        <p:txBody>
          <a:bodyPr anchorCtr="0" anchor="ctr" bIns="76200" lIns="0" spcFirstLastPara="1" rIns="0" wrap="square" tIns="7620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FFFFFF"/>
                </a:solidFill>
                <a:latin typeface="Arial"/>
                <a:ea typeface="Arial"/>
                <a:cs typeface="Arial"/>
                <a:sym typeface="Arial"/>
              </a:rPr>
              <a:t>3</a:t>
            </a:r>
            <a:endParaRPr/>
          </a:p>
        </p:txBody>
      </p:sp>
      <p:sp>
        <p:nvSpPr>
          <p:cNvPr id="111" name="Google Shape;111;p12"/>
          <p:cNvSpPr txBox="1"/>
          <p:nvPr/>
        </p:nvSpPr>
        <p:spPr>
          <a:xfrm>
            <a:off x="914400" y="4368800"/>
            <a:ext cx="4216400" cy="558800"/>
          </a:xfrm>
          <a:prstGeom prst="rect">
            <a:avLst/>
          </a:prstGeom>
          <a:solidFill>
            <a:srgbClr val="D2D9FF"/>
          </a:solidFill>
          <a:ln>
            <a:noFill/>
          </a:ln>
        </p:spPr>
        <p:txBody>
          <a:bodyPr anchorCtr="0" anchor="ctr" bIns="38100" lIns="127000" spcFirstLastPara="1" rIns="127000" wrap="square" tIns="381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1A1A"/>
                </a:solidFill>
                <a:latin typeface="Arial"/>
                <a:ea typeface="Arial"/>
                <a:cs typeface="Arial"/>
                <a:sym typeface="Arial"/>
              </a:rPr>
              <a:t>Synthesized Patient Reviews:</a:t>
            </a:r>
            <a:r>
              <a:rPr b="0" i="0" lang="en" sz="1600" u="none" cap="none" strike="noStrike">
                <a:solidFill>
                  <a:srgbClr val="1A1A1A"/>
                </a:solidFill>
                <a:latin typeface="Arial"/>
                <a:ea typeface="Arial"/>
                <a:cs typeface="Arial"/>
                <a:sym typeface="Arial"/>
              </a:rPr>
              <a:t> What's the consensus on this doctor?</a:t>
            </a:r>
            <a:endParaRPr/>
          </a:p>
        </p:txBody>
      </p:sp>
      <p:sp>
        <p:nvSpPr>
          <p:cNvPr id="112" name="Google Shape;112;p12"/>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6</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Branding vs. Leads in AI</a:t>
            </a:r>
            <a:endParaRPr b="1" sz="2500"/>
          </a:p>
        </p:txBody>
      </p:sp>
      <p:pic>
        <p:nvPicPr>
          <p:cNvPr id="118" name="Google Shape;118;p13" title="ChatGPT Image Feb 4, 2026, 11_38_40 AM.png"/>
          <p:cNvPicPr preferRelativeResize="0"/>
          <p:nvPr/>
        </p:nvPicPr>
        <p:blipFill rotWithShape="1">
          <a:blip r:embed="rId3">
            <a:alphaModFix/>
          </a:blip>
          <a:srcRect b="7256" l="0" r="0" t="12481"/>
          <a:stretch/>
        </p:blipFill>
        <p:spPr>
          <a:xfrm>
            <a:off x="5834380" y="1473200"/>
            <a:ext cx="2785110" cy="3352800"/>
          </a:xfrm>
          <a:prstGeom prst="rect">
            <a:avLst/>
          </a:prstGeom>
          <a:noFill/>
          <a:ln>
            <a:noFill/>
          </a:ln>
        </p:spPr>
      </p:pic>
      <p:sp>
        <p:nvSpPr>
          <p:cNvPr id="119" name="Google Shape;119;p13"/>
          <p:cNvSpPr txBox="1"/>
          <p:nvPr/>
        </p:nvSpPr>
        <p:spPr>
          <a:xfrm>
            <a:off x="355600" y="1473200"/>
            <a:ext cx="5232400" cy="355600"/>
          </a:xfrm>
          <a:prstGeom prst="rect">
            <a:avLst/>
          </a:prstGeom>
          <a:noFill/>
          <a:ln>
            <a:noFill/>
          </a:ln>
        </p:spPr>
        <p:txBody>
          <a:bodyPr anchorCtr="0" anchor="t" bIns="76200" lIns="0" spcFirstLastPara="1" rIns="127000" wrap="square" tIns="76200">
            <a:noAutofit/>
          </a:bodyPr>
          <a:lstStyle/>
          <a:p>
            <a:pPr indent="0" lvl="0" marL="0" marR="0" rtl="0" algn="l">
              <a:lnSpc>
                <a:spcPct val="100000"/>
              </a:lnSpc>
              <a:spcBef>
                <a:spcPts val="0"/>
              </a:spcBef>
              <a:spcAft>
                <a:spcPts val="0"/>
              </a:spcAft>
              <a:buClr>
                <a:srgbClr val="000000"/>
              </a:buClr>
              <a:buSzPts val="1700"/>
              <a:buFont typeface="Arial"/>
              <a:buNone/>
            </a:pPr>
            <a:r>
              <a:rPr b="1" i="0" lang="en" sz="1700" u="none" cap="none" strike="noStrike">
                <a:solidFill>
                  <a:srgbClr val="1A237E"/>
                </a:solidFill>
                <a:latin typeface="Arial"/>
                <a:ea typeface="Arial"/>
                <a:cs typeface="Arial"/>
                <a:sym typeface="Arial"/>
              </a:rPr>
              <a:t>AI search is about being Found AND Chosen</a:t>
            </a:r>
            <a:endParaRPr/>
          </a:p>
        </p:txBody>
      </p:sp>
      <p:sp>
        <p:nvSpPr>
          <p:cNvPr id="120" name="Google Shape;120;p13"/>
          <p:cNvSpPr txBox="1"/>
          <p:nvPr/>
        </p:nvSpPr>
        <p:spPr>
          <a:xfrm>
            <a:off x="355600" y="1905000"/>
            <a:ext cx="2590800" cy="381000"/>
          </a:xfrm>
          <a:prstGeom prst="rect">
            <a:avLst/>
          </a:prstGeom>
          <a:solidFill>
            <a:srgbClr val="7384D8"/>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Branding: the "Found"</a:t>
            </a:r>
            <a:endParaRPr/>
          </a:p>
        </p:txBody>
      </p:sp>
      <p:sp>
        <p:nvSpPr>
          <p:cNvPr id="121" name="Google Shape;121;p13"/>
          <p:cNvSpPr txBox="1"/>
          <p:nvPr/>
        </p:nvSpPr>
        <p:spPr>
          <a:xfrm>
            <a:off x="355600" y="2286000"/>
            <a:ext cx="2590800" cy="1498600"/>
          </a:xfrm>
          <a:prstGeom prst="rect">
            <a:avLst/>
          </a:prstGeom>
          <a:solidFill>
            <a:srgbClr val="EEF1FF"/>
          </a:solidFill>
          <a:ln>
            <a:noFill/>
          </a:ln>
        </p:spPr>
        <p:txBody>
          <a:bodyPr anchorCtr="0" anchor="t"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1A1A"/>
                </a:solidFill>
                <a:latin typeface="Arial"/>
                <a:ea typeface="Arial"/>
                <a:cs typeface="Arial"/>
                <a:sym typeface="Arial"/>
              </a:rPr>
              <a:t>AI learns who you are through authority mentions, citations, and WebMD Featured Profiles.</a:t>
            </a:r>
            <a:endParaRPr/>
          </a:p>
        </p:txBody>
      </p:sp>
      <p:sp>
        <p:nvSpPr>
          <p:cNvPr id="122" name="Google Shape;122;p13"/>
          <p:cNvSpPr txBox="1"/>
          <p:nvPr/>
        </p:nvSpPr>
        <p:spPr>
          <a:xfrm>
            <a:off x="2997200" y="1905000"/>
            <a:ext cx="2590800" cy="381000"/>
          </a:xfrm>
          <a:prstGeom prst="rect">
            <a:avLst/>
          </a:prstGeom>
          <a:solidFill>
            <a:srgbClr val="7384D8"/>
          </a:solidFill>
          <a:ln>
            <a:noFill/>
          </a:ln>
        </p:spPr>
        <p:txBody>
          <a:bodyPr anchorCtr="0" anchor="ctr"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Leads: the "Chosen"</a:t>
            </a:r>
            <a:endParaRPr/>
          </a:p>
        </p:txBody>
      </p:sp>
      <p:sp>
        <p:nvSpPr>
          <p:cNvPr id="123" name="Google Shape;123;p13"/>
          <p:cNvSpPr txBox="1"/>
          <p:nvPr/>
        </p:nvSpPr>
        <p:spPr>
          <a:xfrm>
            <a:off x="2997200" y="2286000"/>
            <a:ext cx="2590800" cy="1498600"/>
          </a:xfrm>
          <a:prstGeom prst="rect">
            <a:avLst/>
          </a:prstGeom>
          <a:solidFill>
            <a:srgbClr val="EEF1FF"/>
          </a:solidFill>
          <a:ln>
            <a:noFill/>
          </a:ln>
        </p:spPr>
        <p:txBody>
          <a:bodyPr anchorCtr="0" anchor="t" bIns="76200" lIns="127000" spcFirstLastPara="1" rIns="1270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1A1A"/>
                </a:solidFill>
                <a:latin typeface="Arial"/>
                <a:ea typeface="Arial"/>
                <a:cs typeface="Arial"/>
                <a:sym typeface="Arial"/>
              </a:rPr>
              <a:t>Patients act on </a:t>
            </a:r>
            <a:r>
              <a:rPr b="1" i="0" lang="en" sz="1600" u="none" cap="none" strike="noStrike">
                <a:solidFill>
                  <a:srgbClr val="1A1A1A"/>
                </a:solidFill>
                <a:latin typeface="Arial"/>
                <a:ea typeface="Arial"/>
                <a:cs typeface="Arial"/>
                <a:sym typeface="Arial"/>
              </a:rPr>
              <a:t>structured signals</a:t>
            </a:r>
            <a:r>
              <a:rPr b="0" i="0" lang="en" sz="1600" u="none" cap="none" strike="noStrike">
                <a:solidFill>
                  <a:srgbClr val="1A1A1A"/>
                </a:solidFill>
                <a:latin typeface="Arial"/>
                <a:ea typeface="Arial"/>
                <a:cs typeface="Arial"/>
                <a:sym typeface="Arial"/>
              </a:rPr>
              <a:t> (availability, location, service tags).</a:t>
            </a:r>
            <a:endParaRPr/>
          </a:p>
        </p:txBody>
      </p:sp>
      <p:sp>
        <p:nvSpPr>
          <p:cNvPr id="124" name="Google Shape;124;p13"/>
          <p:cNvSpPr txBox="1"/>
          <p:nvPr/>
        </p:nvSpPr>
        <p:spPr>
          <a:xfrm>
            <a:off x="355600" y="3886200"/>
            <a:ext cx="5232400" cy="939800"/>
          </a:xfrm>
          <a:prstGeom prst="rect">
            <a:avLst/>
          </a:prstGeom>
          <a:solidFill>
            <a:srgbClr val="D2D9FF"/>
          </a:solidFill>
          <a:ln>
            <a:noFill/>
          </a:ln>
        </p:spPr>
        <p:txBody>
          <a:bodyPr anchorCtr="0" anchor="ctr" bIns="76200" lIns="177800" spcFirstLastPara="1" rIns="1778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The Pivot:</a:t>
            </a:r>
            <a:r>
              <a:rPr b="0" i="0" lang="en" sz="1600" u="none" cap="none" strike="noStrike">
                <a:solidFill>
                  <a:srgbClr val="1A237E"/>
                </a:solidFill>
                <a:latin typeface="Arial"/>
                <a:ea typeface="Arial"/>
                <a:cs typeface="Arial"/>
                <a:sym typeface="Arial"/>
              </a:rPr>
              <a:t> A website builds a brochure; a WebMD profile builds </a:t>
            </a:r>
            <a:r>
              <a:rPr b="1" i="0" lang="en" sz="1600" u="none" cap="none" strike="noStrike">
                <a:solidFill>
                  <a:srgbClr val="1A237E"/>
                </a:solidFill>
                <a:latin typeface="Arial"/>
                <a:ea typeface="Arial"/>
                <a:cs typeface="Arial"/>
                <a:sym typeface="Arial"/>
              </a:rPr>
              <a:t>long-term authority</a:t>
            </a:r>
            <a:r>
              <a:rPr b="0" i="0" lang="en" sz="1600" u="none" cap="none" strike="noStrike">
                <a:solidFill>
                  <a:srgbClr val="1A237E"/>
                </a:solidFill>
                <a:latin typeface="Arial"/>
                <a:ea typeface="Arial"/>
                <a:cs typeface="Arial"/>
                <a:sym typeface="Arial"/>
              </a:rPr>
              <a:t> that AI models learn and trust.</a:t>
            </a:r>
            <a:endParaRPr/>
          </a:p>
        </p:txBody>
      </p:sp>
      <p:sp>
        <p:nvSpPr>
          <p:cNvPr id="125" name="Google Shape;125;p13"/>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7</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4"/>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t>WebMD Profile: An AI “ID Card”</a:t>
            </a:r>
            <a:endParaRPr b="1" sz="2500"/>
          </a:p>
        </p:txBody>
      </p:sp>
      <p:pic>
        <p:nvPicPr>
          <p:cNvPr id="131" name="Google Shape;131;p14" title="ChatGPT Image Feb 4, 2026, 10_36_24 AM.png"/>
          <p:cNvPicPr preferRelativeResize="0"/>
          <p:nvPr/>
        </p:nvPicPr>
        <p:blipFill rotWithShape="1">
          <a:blip r:embed="rId3">
            <a:alphaModFix/>
          </a:blip>
          <a:srcRect b="0" l="0" r="0" t="24488"/>
          <a:stretch/>
        </p:blipFill>
        <p:spPr>
          <a:xfrm>
            <a:off x="494975" y="1496750"/>
            <a:ext cx="3038851" cy="3442149"/>
          </a:xfrm>
          <a:prstGeom prst="rect">
            <a:avLst/>
          </a:prstGeom>
          <a:noFill/>
          <a:ln>
            <a:noFill/>
          </a:ln>
        </p:spPr>
      </p:pic>
      <p:sp>
        <p:nvSpPr>
          <p:cNvPr id="132" name="Google Shape;132;p14"/>
          <p:cNvSpPr txBox="1"/>
          <p:nvPr/>
        </p:nvSpPr>
        <p:spPr>
          <a:xfrm>
            <a:off x="3810000" y="1422400"/>
            <a:ext cx="5016500" cy="1117600"/>
          </a:xfrm>
          <a:prstGeom prst="rect">
            <a:avLst/>
          </a:prstGeom>
          <a:solidFill>
            <a:srgbClr val="EEF1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12121"/>
                </a:solidFill>
                <a:latin typeface="Arial"/>
                <a:ea typeface="Arial"/>
                <a:cs typeface="Arial"/>
                <a:sym typeface="Arial"/>
              </a:rPr>
              <a:t>Schema Markup</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12121"/>
                </a:solidFill>
                <a:latin typeface="Arial"/>
                <a:ea typeface="Arial"/>
                <a:cs typeface="Arial"/>
                <a:sym typeface="Arial"/>
              </a:rPr>
              <a:t>Hidden code that acts as a digital ID. Structured data and schema make WebMD Care Profiles more likely to be cited by AI.</a:t>
            </a:r>
            <a:endParaRPr/>
          </a:p>
        </p:txBody>
      </p:sp>
      <p:sp>
        <p:nvSpPr>
          <p:cNvPr id="133" name="Google Shape;133;p14"/>
          <p:cNvSpPr txBox="1"/>
          <p:nvPr/>
        </p:nvSpPr>
        <p:spPr>
          <a:xfrm>
            <a:off x="3810000" y="2641600"/>
            <a:ext cx="5016500" cy="1117600"/>
          </a:xfrm>
          <a:prstGeom prst="rect">
            <a:avLst/>
          </a:prstGeom>
          <a:solidFill>
            <a:srgbClr val="D2D9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12121"/>
                </a:solidFill>
                <a:latin typeface="Arial"/>
                <a:ea typeface="Arial"/>
                <a:cs typeface="Arial"/>
                <a:sym typeface="Arial"/>
              </a:rPr>
              <a:t>Expert-Level Content</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12121"/>
                </a:solidFill>
                <a:latin typeface="Arial"/>
                <a:ea typeface="Arial"/>
                <a:cs typeface="Arial"/>
                <a:sym typeface="Arial"/>
              </a:rPr>
              <a:t>AI Overviews favor deep, thorough data. We format credentials into "Knowledge Blocks" AI assistants easily digest.</a:t>
            </a:r>
            <a:endParaRPr/>
          </a:p>
        </p:txBody>
      </p:sp>
      <p:sp>
        <p:nvSpPr>
          <p:cNvPr id="134" name="Google Shape;134;p14"/>
          <p:cNvSpPr txBox="1"/>
          <p:nvPr/>
        </p:nvSpPr>
        <p:spPr>
          <a:xfrm>
            <a:off x="3810000" y="3860800"/>
            <a:ext cx="5016500" cy="1092200"/>
          </a:xfrm>
          <a:prstGeom prst="rect">
            <a:avLst/>
          </a:prstGeom>
          <a:solidFill>
            <a:srgbClr val="1A2A8C"/>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THE SALES ARGUMENT</a:t>
            </a:r>
            <a:endParaRPr/>
          </a:p>
          <a:p>
            <a:pPr indent="0" lvl="0" marL="0" marR="0" rtl="0" algn="l">
              <a:lnSpc>
                <a:spcPct val="100000"/>
              </a:lnSpc>
              <a:spcBef>
                <a:spcPts val="0"/>
              </a:spcBef>
              <a:spcAft>
                <a:spcPts val="0"/>
              </a:spcAft>
              <a:buClr>
                <a:srgbClr val="000000"/>
              </a:buClr>
              <a:buSzPts val="1600"/>
              <a:buFont typeface="Arial"/>
              <a:buNone/>
            </a:pPr>
            <a:r>
              <a:rPr b="0" i="1" lang="en" sz="1600" u="none" cap="none" strike="noStrike">
                <a:solidFill>
                  <a:srgbClr val="FFFFFF"/>
                </a:solidFill>
                <a:latin typeface="Arial"/>
                <a:ea typeface="Arial"/>
                <a:cs typeface="Arial"/>
                <a:sym typeface="Arial"/>
              </a:rPr>
              <a:t>"Your website is for humans. Your WebMD profile is a </a:t>
            </a:r>
            <a:r>
              <a:rPr b="1" i="1" lang="en" sz="1600" u="none" cap="none" strike="noStrike">
                <a:solidFill>
                  <a:srgbClr val="FFFFFF"/>
                </a:solidFill>
                <a:latin typeface="Arial"/>
                <a:ea typeface="Arial"/>
                <a:cs typeface="Arial"/>
                <a:sym typeface="Arial"/>
              </a:rPr>
              <a:t>Structured Data Feed</a:t>
            </a:r>
            <a:r>
              <a:rPr b="0" i="1" lang="en" sz="1600" u="none" cap="none" strike="noStrike">
                <a:solidFill>
                  <a:srgbClr val="FFFFFF"/>
                </a:solidFill>
                <a:latin typeface="Arial"/>
                <a:ea typeface="Arial"/>
                <a:cs typeface="Arial"/>
                <a:sym typeface="Arial"/>
              </a:rPr>
              <a:t> for the machines."</a:t>
            </a:r>
            <a:endParaRPr/>
          </a:p>
        </p:txBody>
      </p:sp>
      <p:sp>
        <p:nvSpPr>
          <p:cNvPr id="135" name="Google Shape;135;p14"/>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t>Reviews: The Data Food for AI</a:t>
            </a:r>
            <a:endParaRPr b="1" sz="2500"/>
          </a:p>
        </p:txBody>
      </p:sp>
      <p:pic>
        <p:nvPicPr>
          <p:cNvPr id="141" name="Google Shape;141;p15" title="screencapture-google-search-2026-01-29-10_56_55.png"/>
          <p:cNvPicPr preferRelativeResize="0"/>
          <p:nvPr/>
        </p:nvPicPr>
        <p:blipFill rotWithShape="1">
          <a:blip r:embed="rId3">
            <a:alphaModFix/>
          </a:blip>
          <a:srcRect b="14148" l="0" r="0" t="0"/>
          <a:stretch/>
        </p:blipFill>
        <p:spPr>
          <a:xfrm>
            <a:off x="5255615" y="1545550"/>
            <a:ext cx="3702936" cy="3299975"/>
          </a:xfrm>
          <a:prstGeom prst="rect">
            <a:avLst/>
          </a:prstGeom>
          <a:noFill/>
          <a:ln>
            <a:noFill/>
          </a:ln>
        </p:spPr>
      </p:pic>
      <p:sp>
        <p:nvSpPr>
          <p:cNvPr id="142" name="Google Shape;142;p15"/>
          <p:cNvSpPr txBox="1"/>
          <p:nvPr/>
        </p:nvSpPr>
        <p:spPr>
          <a:xfrm>
            <a:off x="393700" y="1854200"/>
            <a:ext cx="4762500" cy="965200"/>
          </a:xfrm>
          <a:prstGeom prst="rect">
            <a:avLst/>
          </a:prstGeom>
          <a:solidFill>
            <a:srgbClr val="EEF1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12121"/>
                </a:solidFill>
                <a:latin typeface="Arial"/>
                <a:ea typeface="Arial"/>
                <a:cs typeface="Arial"/>
                <a:sym typeface="Arial"/>
              </a:rPr>
              <a:t>Sentiment over Stars</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12121"/>
                </a:solidFill>
                <a:latin typeface="Arial"/>
                <a:ea typeface="Arial"/>
                <a:cs typeface="Arial"/>
                <a:sym typeface="Arial"/>
              </a:rPr>
              <a:t>LLMs read review text to match physicians to specific user goals.</a:t>
            </a:r>
            <a:endParaRPr/>
          </a:p>
        </p:txBody>
      </p:sp>
      <p:sp>
        <p:nvSpPr>
          <p:cNvPr id="143" name="Google Shape;143;p15"/>
          <p:cNvSpPr txBox="1"/>
          <p:nvPr/>
        </p:nvSpPr>
        <p:spPr>
          <a:xfrm>
            <a:off x="393700" y="2895600"/>
            <a:ext cx="4762500" cy="965200"/>
          </a:xfrm>
          <a:prstGeom prst="rect">
            <a:avLst/>
          </a:prstGeom>
          <a:solidFill>
            <a:srgbClr val="EEF1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12121"/>
                </a:solidFill>
                <a:latin typeface="Arial"/>
                <a:ea typeface="Arial"/>
                <a:cs typeface="Arial"/>
                <a:sym typeface="Arial"/>
              </a:rPr>
              <a:t>Review Velocity</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12121"/>
                </a:solidFill>
                <a:latin typeface="Arial"/>
                <a:ea typeface="Arial"/>
                <a:cs typeface="Arial"/>
                <a:sym typeface="Arial"/>
              </a:rPr>
              <a:t>AI is </a:t>
            </a:r>
            <a:r>
              <a:rPr b="1" i="0" lang="en" sz="1600" u="none" cap="none" strike="noStrike">
                <a:solidFill>
                  <a:srgbClr val="212121"/>
                </a:solidFill>
                <a:latin typeface="Arial"/>
                <a:ea typeface="Arial"/>
                <a:cs typeface="Arial"/>
                <a:sym typeface="Arial"/>
              </a:rPr>
              <a:t>less likely</a:t>
            </a:r>
            <a:r>
              <a:rPr b="0" i="0" lang="en" sz="1600" u="none" cap="none" strike="noStrike">
                <a:solidFill>
                  <a:srgbClr val="212121"/>
                </a:solidFill>
                <a:latin typeface="Arial"/>
                <a:ea typeface="Arial"/>
                <a:cs typeface="Arial"/>
                <a:sym typeface="Arial"/>
              </a:rPr>
              <a:t> to recommend a physician with no reviews in the last 90 days.</a:t>
            </a:r>
            <a:endParaRPr/>
          </a:p>
        </p:txBody>
      </p:sp>
      <p:sp>
        <p:nvSpPr>
          <p:cNvPr id="144" name="Google Shape;144;p15"/>
          <p:cNvSpPr txBox="1"/>
          <p:nvPr/>
        </p:nvSpPr>
        <p:spPr>
          <a:xfrm>
            <a:off x="393700" y="3937000"/>
            <a:ext cx="4762500" cy="965200"/>
          </a:xfrm>
          <a:prstGeom prst="rect">
            <a:avLst/>
          </a:prstGeom>
          <a:solidFill>
            <a:srgbClr val="D2D9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212121"/>
                </a:solidFill>
                <a:latin typeface="Arial"/>
                <a:ea typeface="Arial"/>
                <a:cs typeface="Arial"/>
                <a:sym typeface="Arial"/>
              </a:rPr>
              <a:t>Risk Mitigation</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212121"/>
                </a:solidFill>
                <a:latin typeface="Arial"/>
                <a:ea typeface="Arial"/>
                <a:cs typeface="Arial"/>
                <a:sym typeface="Arial"/>
              </a:rPr>
              <a:t>AI is built to be "safe." Steady WebMD reviews signal you are </a:t>
            </a:r>
            <a:r>
              <a:rPr b="1" i="0" lang="en" sz="1600" u="none" cap="none" strike="noStrike">
                <a:solidFill>
                  <a:srgbClr val="212121"/>
                </a:solidFill>
                <a:latin typeface="Arial"/>
                <a:ea typeface="Arial"/>
                <a:cs typeface="Arial"/>
                <a:sym typeface="Arial"/>
              </a:rPr>
              <a:t>Active &amp; Verified.</a:t>
            </a:r>
            <a:endParaRPr/>
          </a:p>
        </p:txBody>
      </p:sp>
      <p:sp>
        <p:nvSpPr>
          <p:cNvPr id="145" name="Google Shape;145;p15"/>
          <p:cNvSpPr txBox="1"/>
          <p:nvPr/>
        </p:nvSpPr>
        <p:spPr>
          <a:xfrm>
            <a:off x="393700" y="1422400"/>
            <a:ext cx="4762500" cy="355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1A2A8C"/>
                </a:solidFill>
                <a:latin typeface="Arial"/>
                <a:ea typeface="Arial"/>
                <a:cs typeface="Arial"/>
                <a:sym typeface="Arial"/>
              </a:rPr>
              <a:t>Why Patient Voice is a Ranking Signal</a:t>
            </a:r>
            <a:endParaRPr/>
          </a:p>
        </p:txBody>
      </p:sp>
      <p:sp>
        <p:nvSpPr>
          <p:cNvPr id="146" name="Google Shape;146;p15"/>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9</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6"/>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Reputation Management = AI Visibility</a:t>
            </a:r>
            <a:endParaRPr b="1" sz="2500"/>
          </a:p>
        </p:txBody>
      </p:sp>
      <p:sp>
        <p:nvSpPr>
          <p:cNvPr id="152" name="Google Shape;152;p16"/>
          <p:cNvSpPr txBox="1"/>
          <p:nvPr>
            <p:ph idx="1" type="body"/>
          </p:nvPr>
        </p:nvSpPr>
        <p:spPr>
          <a:xfrm>
            <a:off x="3683000" y="1422400"/>
            <a:ext cx="5080000" cy="4318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1200"/>
              </a:spcBef>
              <a:spcAft>
                <a:spcPts val="1000"/>
              </a:spcAft>
              <a:buSzPts val="1400"/>
              <a:buNone/>
            </a:pPr>
            <a:r>
              <a:rPr b="1" i="0" lang="en" sz="1700" u="none">
                <a:solidFill>
                  <a:srgbClr val="1A237E"/>
                </a:solidFill>
                <a:latin typeface="Arial"/>
                <a:ea typeface="Arial"/>
                <a:cs typeface="Arial"/>
                <a:sym typeface="Arial"/>
              </a:rPr>
              <a:t>Feeding the Algorithm</a:t>
            </a:r>
            <a:endParaRPr/>
          </a:p>
        </p:txBody>
      </p:sp>
      <p:pic>
        <p:nvPicPr>
          <p:cNvPr id="153" name="Google Shape;153;p16" title="ChatGPT Image Feb 4, 2026, 10_30_04 AM.png"/>
          <p:cNvPicPr preferRelativeResize="0"/>
          <p:nvPr/>
        </p:nvPicPr>
        <p:blipFill rotWithShape="1">
          <a:blip r:embed="rId3">
            <a:alphaModFix/>
          </a:blip>
          <a:srcRect b="10958" l="0" r="0" t="9922"/>
          <a:stretch/>
        </p:blipFill>
        <p:spPr>
          <a:xfrm>
            <a:off x="609600" y="1422400"/>
            <a:ext cx="2846070" cy="3378200"/>
          </a:xfrm>
          <a:prstGeom prst="rect">
            <a:avLst/>
          </a:prstGeom>
          <a:noFill/>
          <a:ln>
            <a:noFill/>
          </a:ln>
        </p:spPr>
      </p:pic>
      <p:sp>
        <p:nvSpPr>
          <p:cNvPr id="154" name="Google Shape;154;p16"/>
          <p:cNvSpPr txBox="1"/>
          <p:nvPr/>
        </p:nvSpPr>
        <p:spPr>
          <a:xfrm>
            <a:off x="3683000" y="1905000"/>
            <a:ext cx="5080000" cy="914400"/>
          </a:xfrm>
          <a:prstGeom prst="rect">
            <a:avLst/>
          </a:prstGeom>
          <a:solidFill>
            <a:srgbClr val="D2D9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A system, not a one-off</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237E"/>
                </a:solidFill>
                <a:latin typeface="Arial"/>
                <a:ea typeface="Arial"/>
                <a:cs typeface="Arial"/>
                <a:sym typeface="Arial"/>
              </a:rPr>
              <a:t>Our Reputation Management tools automate review collection to maintain your AI "heartbeat."</a:t>
            </a:r>
            <a:endParaRPr/>
          </a:p>
        </p:txBody>
      </p:sp>
      <p:sp>
        <p:nvSpPr>
          <p:cNvPr id="155" name="Google Shape;155;p16"/>
          <p:cNvSpPr txBox="1"/>
          <p:nvPr/>
        </p:nvSpPr>
        <p:spPr>
          <a:xfrm>
            <a:off x="3683000" y="2895600"/>
            <a:ext cx="5080000" cy="914400"/>
          </a:xfrm>
          <a:prstGeom prst="rect">
            <a:avLst/>
          </a:prstGeom>
          <a:solidFill>
            <a:srgbClr val="EEF1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Authority over backlinks</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237E"/>
                </a:solidFill>
                <a:latin typeface="Arial"/>
                <a:ea typeface="Arial"/>
                <a:cs typeface="Arial"/>
                <a:sym typeface="Arial"/>
              </a:rPr>
              <a:t>In 2026, </a:t>
            </a:r>
            <a:r>
              <a:rPr b="1" i="0" lang="en" sz="1600" u="none" cap="none" strike="noStrike">
                <a:solidFill>
                  <a:srgbClr val="1A237E"/>
                </a:solidFill>
                <a:latin typeface="Arial"/>
                <a:ea typeface="Arial"/>
                <a:cs typeface="Arial"/>
                <a:sym typeface="Arial"/>
              </a:rPr>
              <a:t>reputation and expertise</a:t>
            </a:r>
            <a:r>
              <a:rPr b="0" i="0" lang="en" sz="1600" u="none" cap="none" strike="noStrike">
                <a:solidFill>
                  <a:srgbClr val="1A237E"/>
                </a:solidFill>
                <a:latin typeface="Arial"/>
                <a:ea typeface="Arial"/>
                <a:cs typeface="Arial"/>
                <a:sym typeface="Arial"/>
              </a:rPr>
              <a:t> matter more than old-school link building.</a:t>
            </a:r>
            <a:endParaRPr/>
          </a:p>
        </p:txBody>
      </p:sp>
      <p:sp>
        <p:nvSpPr>
          <p:cNvPr id="156" name="Google Shape;156;p16"/>
          <p:cNvSpPr txBox="1"/>
          <p:nvPr/>
        </p:nvSpPr>
        <p:spPr>
          <a:xfrm>
            <a:off x="3683000" y="3886200"/>
            <a:ext cx="5080000" cy="914400"/>
          </a:xfrm>
          <a:prstGeom prst="rect">
            <a:avLst/>
          </a:prstGeom>
          <a:solidFill>
            <a:srgbClr val="D2D9FF"/>
          </a:solidFill>
          <a:ln>
            <a:noFill/>
          </a:ln>
        </p:spPr>
        <p:txBody>
          <a:bodyPr anchorCtr="0" anchor="t" bIns="101600" lIns="152400" spcFirstLastPara="1" rIns="152400" wrap="square" tIns="1016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Engagement</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A237E"/>
                </a:solidFill>
                <a:latin typeface="Arial"/>
                <a:ea typeface="Arial"/>
                <a:cs typeface="Arial"/>
                <a:sym typeface="Arial"/>
              </a:rPr>
              <a:t>Responding to reviews signals to AI that you are a reliable provider.</a:t>
            </a:r>
            <a:endParaRPr/>
          </a:p>
        </p:txBody>
      </p:sp>
      <p:sp>
        <p:nvSpPr>
          <p:cNvPr id="157" name="Google Shape;157;p16"/>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10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ph type="ctrTitle"/>
          </p:nvPr>
        </p:nvSpPr>
        <p:spPr>
          <a:xfrm>
            <a:off x="311150" y="635000"/>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Handling the “I Already Have a Website” Objection</a:t>
            </a:r>
            <a:endParaRPr b="1" sz="2500"/>
          </a:p>
        </p:txBody>
      </p:sp>
      <p:pic>
        <p:nvPicPr>
          <p:cNvPr id="163" name="Google Shape;163;p17" title="ChatGPT Image Feb 4, 2026, 11_42_36 AM.png"/>
          <p:cNvPicPr preferRelativeResize="0"/>
          <p:nvPr/>
        </p:nvPicPr>
        <p:blipFill rotWithShape="1">
          <a:blip r:embed="rId3">
            <a:alphaModFix/>
          </a:blip>
          <a:srcRect b="12550" l="0" r="0" t="15201"/>
          <a:stretch/>
        </p:blipFill>
        <p:spPr>
          <a:xfrm>
            <a:off x="406400" y="1422400"/>
            <a:ext cx="3235960" cy="3505200"/>
          </a:xfrm>
          <a:prstGeom prst="rect">
            <a:avLst/>
          </a:prstGeom>
          <a:noFill/>
          <a:ln>
            <a:noFill/>
          </a:ln>
        </p:spPr>
      </p:pic>
      <p:sp>
        <p:nvSpPr>
          <p:cNvPr id="164" name="Google Shape;164;p17"/>
          <p:cNvSpPr txBox="1"/>
          <p:nvPr/>
        </p:nvSpPr>
        <p:spPr>
          <a:xfrm>
            <a:off x="3810000" y="1422400"/>
            <a:ext cx="5080000" cy="431800"/>
          </a:xfrm>
          <a:prstGeom prst="rect">
            <a:avLst/>
          </a:prstGeom>
          <a:solidFill>
            <a:srgbClr val="7384D8"/>
          </a:solidFill>
          <a:ln>
            <a:noFill/>
          </a:ln>
        </p:spPr>
        <p:txBody>
          <a:bodyPr anchorCtr="0" anchor="t"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Objection:</a:t>
            </a:r>
            <a:r>
              <a:rPr b="0" i="0" lang="en" sz="1600" u="none" cap="none" strike="noStrike">
                <a:solidFill>
                  <a:srgbClr val="FFFFFF"/>
                </a:solidFill>
                <a:latin typeface="Arial"/>
                <a:ea typeface="Arial"/>
                <a:cs typeface="Arial"/>
                <a:sym typeface="Arial"/>
              </a:rPr>
              <a:t> "I already have a website."</a:t>
            </a:r>
            <a:endParaRPr/>
          </a:p>
        </p:txBody>
      </p:sp>
      <p:sp>
        <p:nvSpPr>
          <p:cNvPr id="165" name="Google Shape;165;p17"/>
          <p:cNvSpPr txBox="1"/>
          <p:nvPr/>
        </p:nvSpPr>
        <p:spPr>
          <a:xfrm>
            <a:off x="3810000" y="1930400"/>
            <a:ext cx="5080000" cy="1371600"/>
          </a:xfrm>
          <a:prstGeom prst="rect">
            <a:avLst/>
          </a:prstGeom>
          <a:solidFill>
            <a:srgbClr val="D2D9FF"/>
          </a:solidFill>
          <a:ln>
            <a:noFill/>
          </a:ln>
        </p:spPr>
        <p:txBody>
          <a:bodyPr anchorCtr="0" anchor="t"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Rep: the shift</a:t>
            </a:r>
            <a:endParaRPr/>
          </a:p>
          <a:p>
            <a:pPr indent="0" lvl="0" marL="0" marR="0" rtl="0" algn="l">
              <a:lnSpc>
                <a:spcPct val="100000"/>
              </a:lnSpc>
              <a:spcBef>
                <a:spcPts val="0"/>
              </a:spcBef>
              <a:spcAft>
                <a:spcPts val="0"/>
              </a:spcAft>
              <a:buClr>
                <a:srgbClr val="000000"/>
              </a:buClr>
              <a:buSzPts val="1600"/>
              <a:buFont typeface="Arial"/>
              <a:buNone/>
            </a:pPr>
            <a:r>
              <a:rPr b="0" i="1" lang="en" sz="1600" u="none" cap="none" strike="noStrike">
                <a:solidFill>
                  <a:srgbClr val="1A237E"/>
                </a:solidFill>
                <a:latin typeface="Arial"/>
                <a:ea typeface="Arial"/>
                <a:cs typeface="Arial"/>
                <a:sym typeface="Arial"/>
              </a:rPr>
              <a:t>"Your website only works if a patient clicks your specific link. Right now, </a:t>
            </a:r>
            <a:r>
              <a:rPr b="1" i="1" lang="en" sz="1600" u="none" cap="none" strike="noStrike">
                <a:solidFill>
                  <a:srgbClr val="1A237E"/>
                </a:solidFill>
                <a:latin typeface="Arial"/>
                <a:ea typeface="Arial"/>
                <a:cs typeface="Arial"/>
                <a:sym typeface="Arial"/>
              </a:rPr>
              <a:t>40 million people every single day</a:t>
            </a:r>
            <a:r>
              <a:rPr b="0" i="1" lang="en" sz="1600" u="none" cap="none" strike="noStrike">
                <a:solidFill>
                  <a:srgbClr val="1A237E"/>
                </a:solidFill>
                <a:latin typeface="Arial"/>
                <a:ea typeface="Arial"/>
                <a:cs typeface="Arial"/>
                <a:sym typeface="Arial"/>
              </a:rPr>
              <a:t> are bypassing search links and asking ChatGPT to choose a provider for them.</a:t>
            </a:r>
            <a:endParaRPr/>
          </a:p>
        </p:txBody>
      </p:sp>
      <p:sp>
        <p:nvSpPr>
          <p:cNvPr id="166" name="Google Shape;166;p17"/>
          <p:cNvSpPr txBox="1"/>
          <p:nvPr/>
        </p:nvSpPr>
        <p:spPr>
          <a:xfrm>
            <a:off x="3810000" y="3378200"/>
            <a:ext cx="5080000" cy="1549400"/>
          </a:xfrm>
          <a:prstGeom prst="rect">
            <a:avLst/>
          </a:prstGeom>
          <a:solidFill>
            <a:srgbClr val="EEF1FF"/>
          </a:solidFill>
          <a:ln>
            <a:noFill/>
          </a:ln>
        </p:spPr>
        <p:txBody>
          <a:bodyPr anchorCtr="0" anchor="t" bIns="76200" lIns="152400" spcFirstLastPara="1" rIns="152400" wrap="square" tIns="762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A237E"/>
                </a:solidFill>
                <a:latin typeface="Arial"/>
                <a:ea typeface="Arial"/>
                <a:cs typeface="Arial"/>
                <a:sym typeface="Arial"/>
              </a:rPr>
              <a:t>Rep: why WebMD</a:t>
            </a:r>
            <a:endParaRPr/>
          </a:p>
          <a:p>
            <a:pPr indent="0" lvl="0" marL="0" marR="0" rtl="0" algn="l">
              <a:lnSpc>
                <a:spcPct val="100000"/>
              </a:lnSpc>
              <a:spcBef>
                <a:spcPts val="0"/>
              </a:spcBef>
              <a:spcAft>
                <a:spcPts val="0"/>
              </a:spcAft>
              <a:buClr>
                <a:srgbClr val="000000"/>
              </a:buClr>
              <a:buSzPts val="1600"/>
              <a:buFont typeface="Arial"/>
              <a:buNone/>
            </a:pPr>
            <a:r>
              <a:rPr b="0" i="1" lang="en" sz="1600" u="none" cap="none" strike="noStrike">
                <a:solidFill>
                  <a:srgbClr val="1A237E"/>
                </a:solidFill>
                <a:latin typeface="Arial"/>
                <a:ea typeface="Arial"/>
                <a:cs typeface="Arial"/>
                <a:sym typeface="Arial"/>
              </a:rPr>
              <a:t>WebMD is a </a:t>
            </a:r>
            <a:r>
              <a:rPr b="1" i="1" lang="en" sz="1600" u="none" cap="none" strike="noStrike">
                <a:solidFill>
                  <a:srgbClr val="1A237E"/>
                </a:solidFill>
                <a:latin typeface="Arial"/>
                <a:ea typeface="Arial"/>
                <a:cs typeface="Arial"/>
                <a:sym typeface="Arial"/>
              </a:rPr>
              <a:t>Verified Tier-1 Directory</a:t>
            </a:r>
            <a:r>
              <a:rPr b="0" i="1" lang="en" sz="1600" u="none" cap="none" strike="noStrike">
                <a:solidFill>
                  <a:srgbClr val="1A237E"/>
                </a:solidFill>
                <a:latin typeface="Arial"/>
                <a:ea typeface="Arial"/>
                <a:cs typeface="Arial"/>
                <a:sym typeface="Arial"/>
              </a:rPr>
              <a:t>. When an AI synthesizes an answer, it cross-references your site with us. If you aren't on WebMD, the AI 'loses confidence' and recommends the competitor it can verify."</a:t>
            </a:r>
            <a:endParaRPr/>
          </a:p>
        </p:txBody>
      </p:sp>
      <p:sp>
        <p:nvSpPr>
          <p:cNvPr id="167" name="Google Shape;167;p17"/>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11</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pic>
        <p:nvPicPr>
          <p:cNvPr id="172" name="Google Shape;172;p18" title="ChatGPT Image Feb 4, 2026, 11_46_39 AM.png"/>
          <p:cNvPicPr preferRelativeResize="0"/>
          <p:nvPr/>
        </p:nvPicPr>
        <p:blipFill rotWithShape="1">
          <a:blip r:embed="rId3">
            <a:alphaModFix/>
          </a:blip>
          <a:srcRect b="0" l="0" r="15526" t="0"/>
          <a:stretch/>
        </p:blipFill>
        <p:spPr>
          <a:xfrm rot="-5400000">
            <a:off x="2019389" y="-1972738"/>
            <a:ext cx="5175775" cy="9121252"/>
          </a:xfrm>
          <a:prstGeom prst="rect">
            <a:avLst/>
          </a:prstGeom>
          <a:noFill/>
          <a:ln>
            <a:noFill/>
          </a:ln>
        </p:spPr>
      </p:pic>
      <p:sp>
        <p:nvSpPr>
          <p:cNvPr id="173" name="Google Shape;173;p18"/>
          <p:cNvSpPr txBox="1"/>
          <p:nvPr>
            <p:ph type="ctrTitle"/>
          </p:nvPr>
        </p:nvSpPr>
        <p:spPr>
          <a:xfrm>
            <a:off x="311700" y="66678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t>Live Demo</a:t>
            </a:r>
            <a:endParaRPr b="1" sz="2500"/>
          </a:p>
        </p:txBody>
      </p:sp>
      <p:pic>
        <p:nvPicPr>
          <p:cNvPr id="174" name="Google Shape;174;p18" title="WebMDCareDirectories_NewLogoColor.png"/>
          <p:cNvPicPr preferRelativeResize="0"/>
          <p:nvPr/>
        </p:nvPicPr>
        <p:blipFill rotWithShape="1">
          <a:blip r:embed="rId4">
            <a:alphaModFix/>
          </a:blip>
          <a:srcRect b="0" l="0" r="0" t="0"/>
          <a:stretch/>
        </p:blipFill>
        <p:spPr>
          <a:xfrm>
            <a:off x="311700" y="258875"/>
            <a:ext cx="1248575" cy="315275"/>
          </a:xfrm>
          <a:prstGeom prst="rect">
            <a:avLst/>
          </a:prstGeom>
          <a:noFill/>
          <a:ln>
            <a:noFill/>
          </a:ln>
        </p:spPr>
      </p:pic>
      <p:sp>
        <p:nvSpPr>
          <p:cNvPr id="175" name="Google Shape;175;p18"/>
          <p:cNvSpPr/>
          <p:nvPr/>
        </p:nvSpPr>
        <p:spPr>
          <a:xfrm>
            <a:off x="508000" y="1549400"/>
            <a:ext cx="2603500" cy="1905000"/>
          </a:xfrm>
          <a:prstGeom prst="rect">
            <a:avLst/>
          </a:prstGeom>
          <a:solidFill>
            <a:srgbClr val="EEF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6" name="Google Shape;176;p18"/>
          <p:cNvSpPr/>
          <p:nvPr/>
        </p:nvSpPr>
        <p:spPr>
          <a:xfrm>
            <a:off x="3270250" y="1549400"/>
            <a:ext cx="2603500" cy="1905000"/>
          </a:xfrm>
          <a:prstGeom prst="rect">
            <a:avLst/>
          </a:prstGeom>
          <a:solidFill>
            <a:srgbClr val="EEF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7" name="Google Shape;177;p18"/>
          <p:cNvSpPr/>
          <p:nvPr/>
        </p:nvSpPr>
        <p:spPr>
          <a:xfrm>
            <a:off x="6032500" y="1549400"/>
            <a:ext cx="2603500" cy="1905000"/>
          </a:xfrm>
          <a:prstGeom prst="rect">
            <a:avLst/>
          </a:prstGeom>
          <a:solidFill>
            <a:srgbClr val="EEF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18"/>
          <p:cNvSpPr txBox="1"/>
          <p:nvPr/>
        </p:nvSpPr>
        <p:spPr>
          <a:xfrm>
            <a:off x="660400" y="1625600"/>
            <a:ext cx="762000" cy="58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7384D8"/>
                </a:solidFill>
                <a:latin typeface="Arial"/>
                <a:ea typeface="Arial"/>
                <a:cs typeface="Arial"/>
                <a:sym typeface="Arial"/>
              </a:rPr>
              <a:t>1</a:t>
            </a:r>
            <a:endParaRPr/>
          </a:p>
        </p:txBody>
      </p:sp>
      <p:sp>
        <p:nvSpPr>
          <p:cNvPr id="179" name="Google Shape;179;p18"/>
          <p:cNvSpPr txBox="1"/>
          <p:nvPr/>
        </p:nvSpPr>
        <p:spPr>
          <a:xfrm>
            <a:off x="3422650" y="1625600"/>
            <a:ext cx="762000" cy="58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7384D8"/>
                </a:solidFill>
                <a:latin typeface="Arial"/>
                <a:ea typeface="Arial"/>
                <a:cs typeface="Arial"/>
                <a:sym typeface="Arial"/>
              </a:rPr>
              <a:t>2</a:t>
            </a:r>
            <a:endParaRPr/>
          </a:p>
        </p:txBody>
      </p:sp>
      <p:sp>
        <p:nvSpPr>
          <p:cNvPr id="180" name="Google Shape;180;p18"/>
          <p:cNvSpPr txBox="1"/>
          <p:nvPr/>
        </p:nvSpPr>
        <p:spPr>
          <a:xfrm>
            <a:off x="6184900" y="1625600"/>
            <a:ext cx="762000" cy="584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3600"/>
              <a:buFont typeface="Arial"/>
              <a:buNone/>
            </a:pPr>
            <a:r>
              <a:rPr b="0" i="0" lang="en" sz="3600" u="none" cap="none" strike="noStrike">
                <a:solidFill>
                  <a:srgbClr val="7384D8"/>
                </a:solidFill>
                <a:latin typeface="Arial"/>
                <a:ea typeface="Arial"/>
                <a:cs typeface="Arial"/>
                <a:sym typeface="Arial"/>
              </a:rPr>
              <a:t>3</a:t>
            </a:r>
            <a:endParaRPr/>
          </a:p>
        </p:txBody>
      </p:sp>
      <p:sp>
        <p:nvSpPr>
          <p:cNvPr id="181" name="Google Shape;181;p18"/>
          <p:cNvSpPr txBox="1"/>
          <p:nvPr/>
        </p:nvSpPr>
        <p:spPr>
          <a:xfrm>
            <a:off x="3422650" y="2235200"/>
            <a:ext cx="2324100" cy="116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5237E"/>
                </a:solidFill>
                <a:latin typeface="Arial"/>
                <a:ea typeface="Arial"/>
                <a:cs typeface="Arial"/>
                <a:sym typeface="Arial"/>
              </a:rPr>
              <a:t>Ask:</a:t>
            </a:r>
            <a:r>
              <a:rPr b="0" i="0" lang="en" sz="1600" u="none" cap="none" strike="noStrike">
                <a:solidFill>
                  <a:srgbClr val="15237E"/>
                </a:solidFill>
                <a:latin typeface="Arial"/>
                <a:ea typeface="Arial"/>
                <a:cs typeface="Arial"/>
                <a:sym typeface="Arial"/>
              </a:rPr>
              <a:t> </a:t>
            </a:r>
            <a:r>
              <a:rPr b="0" i="1" lang="en" sz="1600" u="none" cap="none" strike="noStrike">
                <a:solidFill>
                  <a:srgbClr val="15237E"/>
                </a:solidFill>
                <a:latin typeface="Arial"/>
                <a:ea typeface="Arial"/>
                <a:cs typeface="Arial"/>
                <a:sym typeface="Arial"/>
              </a:rPr>
              <a:t>"Find me a [Specialty] near me who is highly rated for [Procedure]."</a:t>
            </a:r>
            <a:endParaRPr/>
          </a:p>
        </p:txBody>
      </p:sp>
      <p:sp>
        <p:nvSpPr>
          <p:cNvPr id="182" name="Google Shape;182;p18"/>
          <p:cNvSpPr txBox="1"/>
          <p:nvPr/>
        </p:nvSpPr>
        <p:spPr>
          <a:xfrm>
            <a:off x="6184900" y="2235200"/>
            <a:ext cx="2324100" cy="1168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5237E"/>
                </a:solidFill>
                <a:latin typeface="Arial"/>
                <a:ea typeface="Arial"/>
                <a:cs typeface="Arial"/>
                <a:sym typeface="Arial"/>
              </a:rPr>
              <a:t>The Result:</a:t>
            </a:r>
            <a:r>
              <a:rPr b="0" i="0" lang="en" sz="1600" u="none" cap="none" strike="noStrike">
                <a:solidFill>
                  <a:srgbClr val="15237E"/>
                </a:solidFill>
                <a:latin typeface="Arial"/>
                <a:ea typeface="Arial"/>
                <a:cs typeface="Arial"/>
                <a:sym typeface="Arial"/>
              </a:rPr>
              <a:t> Note who the AI cites.</a:t>
            </a:r>
            <a:endParaRPr/>
          </a:p>
        </p:txBody>
      </p:sp>
      <p:sp>
        <p:nvSpPr>
          <p:cNvPr id="183" name="Google Shape;183;p18"/>
          <p:cNvSpPr/>
          <p:nvPr/>
        </p:nvSpPr>
        <p:spPr>
          <a:xfrm>
            <a:off x="508000" y="3632200"/>
            <a:ext cx="8128000" cy="1168400"/>
          </a:xfrm>
          <a:prstGeom prst="rect">
            <a:avLst/>
          </a:prstGeom>
          <a:solidFill>
            <a:srgbClr val="1523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18"/>
          <p:cNvSpPr txBox="1"/>
          <p:nvPr/>
        </p:nvSpPr>
        <p:spPr>
          <a:xfrm>
            <a:off x="660400" y="3632200"/>
            <a:ext cx="7823200" cy="11684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700"/>
              <a:buFont typeface="Arial"/>
              <a:buNone/>
            </a:pPr>
            <a:r>
              <a:rPr b="0" i="1" lang="en" sz="1700" u="none" cap="none" strike="noStrike">
                <a:solidFill>
                  <a:srgbClr val="FFFFFF"/>
                </a:solidFill>
                <a:latin typeface="Arial"/>
                <a:ea typeface="Arial"/>
                <a:cs typeface="Arial"/>
                <a:sym typeface="Arial"/>
              </a:rPr>
              <a:t>"See how the AI cited a medical directory to give this answer? My job is to make sure your WebMD data is the source for that next recommendation."</a:t>
            </a:r>
            <a:endParaRPr/>
          </a:p>
        </p:txBody>
      </p:sp>
      <p:sp>
        <p:nvSpPr>
          <p:cNvPr id="185" name="Google Shape;185;p18"/>
          <p:cNvSpPr txBox="1"/>
          <p:nvPr/>
        </p:nvSpPr>
        <p:spPr>
          <a:xfrm>
            <a:off x="660400" y="2235200"/>
            <a:ext cx="2362200" cy="762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5237E"/>
                </a:solidFill>
                <a:latin typeface="Arial"/>
                <a:ea typeface="Arial"/>
                <a:cs typeface="Arial"/>
                <a:sym typeface="Arial"/>
              </a:rPr>
              <a:t>Open: </a:t>
            </a:r>
            <a:r>
              <a:rPr i="0" lang="en" sz="1600" cap="none" strike="noStrike">
                <a:solidFill>
                  <a:srgbClr val="15237E"/>
                </a:solidFill>
              </a:rPr>
              <a:t>ChatGPT</a:t>
            </a:r>
            <a:r>
              <a:rPr lang="en" sz="1600">
                <a:solidFill>
                  <a:srgbClr val="15237E"/>
                </a:solidFill>
              </a:rPr>
              <a:t> or Gemini</a:t>
            </a:r>
            <a:r>
              <a:rPr i="0" lang="en" sz="1600" u="none" cap="none" strike="noStrike">
                <a:solidFill>
                  <a:srgbClr val="15237E"/>
                </a:solidFill>
              </a:rPr>
              <a:t>.</a:t>
            </a:r>
            <a:endParaRPr/>
          </a:p>
        </p:txBody>
      </p:sp>
      <p:sp>
        <p:nvSpPr>
          <p:cNvPr id="186" name="Google Shape;186;p18"/>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12</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9"/>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latin typeface="Arial"/>
                <a:ea typeface="Arial"/>
                <a:cs typeface="Arial"/>
                <a:sym typeface="Arial"/>
              </a:rPr>
              <a:t>The New Visibility Advantage</a:t>
            </a:r>
            <a:endParaRPr b="1" sz="2500"/>
          </a:p>
        </p:txBody>
      </p:sp>
      <p:pic>
        <p:nvPicPr>
          <p:cNvPr id="192" name="Google Shape;192;p19" title="ChatGPT Image Feb 4, 2026, 10_21_34 AM.png"/>
          <p:cNvPicPr preferRelativeResize="0"/>
          <p:nvPr/>
        </p:nvPicPr>
        <p:blipFill rotWithShape="1">
          <a:blip r:embed="rId3">
            <a:alphaModFix/>
          </a:blip>
          <a:srcRect b="7677" l="0" r="0" t="23471"/>
          <a:stretch/>
        </p:blipFill>
        <p:spPr>
          <a:xfrm>
            <a:off x="5334000" y="1422400"/>
            <a:ext cx="3442970" cy="3556000"/>
          </a:xfrm>
          <a:prstGeom prst="rect">
            <a:avLst/>
          </a:prstGeom>
          <a:noFill/>
          <a:ln>
            <a:noFill/>
          </a:ln>
        </p:spPr>
      </p:pic>
      <p:sp>
        <p:nvSpPr>
          <p:cNvPr id="193" name="Google Shape;193;p19"/>
          <p:cNvSpPr/>
          <p:nvPr/>
        </p:nvSpPr>
        <p:spPr>
          <a:xfrm>
            <a:off x="508000" y="1422400"/>
            <a:ext cx="2286000" cy="1803400"/>
          </a:xfrm>
          <a:prstGeom prst="rect">
            <a:avLst/>
          </a:prstGeom>
          <a:solidFill>
            <a:srgbClr val="EEF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4" name="Google Shape;194;p19"/>
          <p:cNvSpPr/>
          <p:nvPr/>
        </p:nvSpPr>
        <p:spPr>
          <a:xfrm>
            <a:off x="2946400" y="1422400"/>
            <a:ext cx="2286000" cy="1803400"/>
          </a:xfrm>
          <a:prstGeom prst="rect">
            <a:avLst/>
          </a:prstGeom>
          <a:solidFill>
            <a:srgbClr val="D2D9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5" name="Google Shape;195;p19"/>
          <p:cNvSpPr txBox="1"/>
          <p:nvPr/>
        </p:nvSpPr>
        <p:spPr>
          <a:xfrm>
            <a:off x="584200" y="1473200"/>
            <a:ext cx="2159000" cy="172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5237E"/>
                </a:solidFill>
                <a:latin typeface="Arial"/>
                <a:ea typeface="Arial"/>
                <a:cs typeface="Arial"/>
                <a:sym typeface="Arial"/>
              </a:rPr>
              <a:t>Hybrid Search</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5237E"/>
                </a:solidFill>
                <a:latin typeface="Arial"/>
                <a:ea typeface="Arial"/>
                <a:cs typeface="Arial"/>
                <a:sym typeface="Arial"/>
              </a:rPr>
              <a:t>Success requires balancing traditional Google SEO with </a:t>
            </a:r>
            <a:r>
              <a:rPr b="1" i="0" lang="en" sz="1600" u="none" cap="none" strike="noStrike">
                <a:solidFill>
                  <a:srgbClr val="15237E"/>
                </a:solidFill>
                <a:latin typeface="Arial"/>
                <a:ea typeface="Arial"/>
                <a:cs typeface="Arial"/>
                <a:sym typeface="Arial"/>
              </a:rPr>
              <a:t>Answer Engine Optimization (AEO).</a:t>
            </a:r>
            <a:endParaRPr/>
          </a:p>
        </p:txBody>
      </p:sp>
      <p:sp>
        <p:nvSpPr>
          <p:cNvPr id="196" name="Google Shape;196;p19"/>
          <p:cNvSpPr txBox="1"/>
          <p:nvPr/>
        </p:nvSpPr>
        <p:spPr>
          <a:xfrm>
            <a:off x="3022600" y="1473200"/>
            <a:ext cx="2159000" cy="172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15237E"/>
                </a:solidFill>
                <a:latin typeface="Arial"/>
                <a:ea typeface="Arial"/>
                <a:cs typeface="Arial"/>
                <a:sym typeface="Arial"/>
              </a:rPr>
              <a:t>The Winner</a:t>
            </a:r>
            <a:endParaRPr/>
          </a:p>
          <a:p>
            <a:pPr indent="0" lvl="0" marL="0" marR="0" rtl="0" algn="l">
              <a:lnSpc>
                <a:spcPct val="100000"/>
              </a:lnSpc>
              <a:spcBef>
                <a:spcPts val="0"/>
              </a:spcBef>
              <a:spcAft>
                <a:spcPts val="0"/>
              </a:spcAft>
              <a:buClr>
                <a:srgbClr val="000000"/>
              </a:buClr>
              <a:buSzPts val="1600"/>
              <a:buFont typeface="Arial"/>
              <a:buNone/>
            </a:pPr>
            <a:r>
              <a:rPr b="0" i="0" lang="en" sz="1600" u="none" cap="none" strike="noStrike">
                <a:solidFill>
                  <a:srgbClr val="15237E"/>
                </a:solidFill>
                <a:latin typeface="Arial"/>
                <a:ea typeface="Arial"/>
                <a:cs typeface="Arial"/>
                <a:sym typeface="Arial"/>
              </a:rPr>
              <a:t>The physician with the most trusted, structured, and recent data signals.</a:t>
            </a:r>
            <a:endParaRPr/>
          </a:p>
        </p:txBody>
      </p:sp>
      <p:sp>
        <p:nvSpPr>
          <p:cNvPr id="197" name="Google Shape;197;p19"/>
          <p:cNvSpPr/>
          <p:nvPr/>
        </p:nvSpPr>
        <p:spPr>
          <a:xfrm>
            <a:off x="508000" y="3327400"/>
            <a:ext cx="4724400" cy="1651000"/>
          </a:xfrm>
          <a:prstGeom prst="rect">
            <a:avLst/>
          </a:prstGeom>
          <a:solidFill>
            <a:srgbClr val="15237E"/>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8" name="Google Shape;198;p19"/>
          <p:cNvSpPr txBox="1"/>
          <p:nvPr/>
        </p:nvSpPr>
        <p:spPr>
          <a:xfrm>
            <a:off x="609600" y="3352800"/>
            <a:ext cx="4546600" cy="1600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Arial"/>
                <a:ea typeface="Arial"/>
                <a:cs typeface="Arial"/>
                <a:sym typeface="Arial"/>
              </a:rPr>
              <a:t>Closing Stat</a:t>
            </a:r>
            <a:endParaRPr/>
          </a:p>
          <a:p>
            <a:pPr indent="0" lvl="0" marL="0" marR="0" rtl="0" algn="l">
              <a:lnSpc>
                <a:spcPct val="100000"/>
              </a:lnSpc>
              <a:spcBef>
                <a:spcPts val="0"/>
              </a:spcBef>
              <a:spcAft>
                <a:spcPts val="0"/>
              </a:spcAft>
              <a:buClr>
                <a:srgbClr val="000000"/>
              </a:buClr>
              <a:buSzPts val="1600"/>
              <a:buFont typeface="Arial"/>
              <a:buNone/>
            </a:pPr>
            <a:r>
              <a:rPr b="0" i="1" lang="en" sz="1600" u="none" cap="none" strike="noStrike">
                <a:solidFill>
                  <a:srgbClr val="FFFFFF"/>
                </a:solidFill>
                <a:latin typeface="Arial"/>
                <a:ea typeface="Arial"/>
                <a:cs typeface="Arial"/>
                <a:sym typeface="Arial"/>
              </a:rPr>
              <a:t>"One in four patients now asks an AI for a doctor recommendation by name. If the AI doesn't have the structured data from a platform like WebMD, it can't vouch for you, and it won't."</a:t>
            </a:r>
            <a:endParaRPr/>
          </a:p>
        </p:txBody>
      </p:sp>
      <p:sp>
        <p:nvSpPr>
          <p:cNvPr id="199" name="Google Shape;199;p19"/>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0"/>
          <p:cNvSpPr txBox="1"/>
          <p:nvPr>
            <p:ph type="ctrTitle"/>
          </p:nvPr>
        </p:nvSpPr>
        <p:spPr>
          <a:xfrm>
            <a:off x="311700" y="713232"/>
            <a:ext cx="8520600" cy="5127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2000"/>
              <a:buNone/>
            </a:pPr>
            <a:r>
              <a:rPr b="1" lang="en" sz="2500"/>
              <a:t>New Sales Resources</a:t>
            </a:r>
            <a:endParaRPr b="1" sz="2500"/>
          </a:p>
        </p:txBody>
      </p:sp>
      <p:pic>
        <p:nvPicPr>
          <p:cNvPr id="205" name="Google Shape;205;p20" title="Screenshot 2026-03-02 at 9.25.17 PM.png"/>
          <p:cNvPicPr preferRelativeResize="0"/>
          <p:nvPr/>
        </p:nvPicPr>
        <p:blipFill rotWithShape="1">
          <a:blip r:embed="rId3">
            <a:alphaModFix/>
          </a:blip>
          <a:srcRect b="0" l="0" r="0" t="0"/>
          <a:stretch/>
        </p:blipFill>
        <p:spPr>
          <a:xfrm>
            <a:off x="5715000" y="1422400"/>
            <a:ext cx="2811780" cy="3429000"/>
          </a:xfrm>
          <a:prstGeom prst="rect">
            <a:avLst/>
          </a:prstGeom>
          <a:noFill/>
          <a:ln>
            <a:noFill/>
          </a:ln>
        </p:spPr>
      </p:pic>
      <p:sp>
        <p:nvSpPr>
          <p:cNvPr id="206" name="Google Shape;206;p20"/>
          <p:cNvSpPr/>
          <p:nvPr/>
        </p:nvSpPr>
        <p:spPr>
          <a:xfrm>
            <a:off x="508000" y="1549400"/>
            <a:ext cx="4826000" cy="1498600"/>
          </a:xfrm>
          <a:prstGeom prst="rect">
            <a:avLst/>
          </a:prstGeom>
          <a:solidFill>
            <a:srgbClr val="EEF1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7" name="Google Shape;207;p20"/>
          <p:cNvSpPr/>
          <p:nvPr/>
        </p:nvSpPr>
        <p:spPr>
          <a:xfrm>
            <a:off x="508000" y="3251200"/>
            <a:ext cx="4826000" cy="1498600"/>
          </a:xfrm>
          <a:prstGeom prst="rect">
            <a:avLst/>
          </a:prstGeom>
          <a:solidFill>
            <a:srgbClr val="D2D9F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8" name="Google Shape;208;p20"/>
          <p:cNvSpPr txBox="1"/>
          <p:nvPr/>
        </p:nvSpPr>
        <p:spPr>
          <a:xfrm>
            <a:off x="762000" y="1727200"/>
            <a:ext cx="1524000" cy="330200"/>
          </a:xfrm>
          <a:prstGeom prst="rect">
            <a:avLst/>
          </a:prstGeom>
          <a:solidFill>
            <a:srgbClr val="7384D8"/>
          </a:solidFill>
          <a:ln>
            <a:noFill/>
          </a:ln>
        </p:spPr>
        <p:txBody>
          <a:bodyPr anchorCtr="0" anchor="t" bIns="0" lIns="101600" spcFirstLastPara="1" rIns="0" wrap="square" tIns="508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INTERNAL</a:t>
            </a:r>
            <a:endParaRPr/>
          </a:p>
        </p:txBody>
      </p:sp>
      <p:sp>
        <p:nvSpPr>
          <p:cNvPr id="209" name="Google Shape;209;p20"/>
          <p:cNvSpPr txBox="1"/>
          <p:nvPr/>
        </p:nvSpPr>
        <p:spPr>
          <a:xfrm>
            <a:off x="762000" y="2184400"/>
            <a:ext cx="4381500" cy="71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2A8C"/>
                </a:solidFill>
                <a:latin typeface="Arial"/>
                <a:ea typeface="Arial"/>
                <a:cs typeface="Arial"/>
                <a:sym typeface="Arial"/>
              </a:rPr>
              <a:t>Objection Handling: Selling Visibility in the AI Era</a:t>
            </a:r>
            <a:endParaRPr/>
          </a:p>
        </p:txBody>
      </p:sp>
      <p:sp>
        <p:nvSpPr>
          <p:cNvPr id="210" name="Google Shape;210;p20"/>
          <p:cNvSpPr txBox="1"/>
          <p:nvPr/>
        </p:nvSpPr>
        <p:spPr>
          <a:xfrm>
            <a:off x="762000" y="3429000"/>
            <a:ext cx="1524000" cy="330200"/>
          </a:xfrm>
          <a:prstGeom prst="rect">
            <a:avLst/>
          </a:prstGeom>
          <a:solidFill>
            <a:srgbClr val="1A2A8C"/>
          </a:solidFill>
          <a:ln>
            <a:noFill/>
          </a:ln>
        </p:spPr>
        <p:txBody>
          <a:bodyPr anchorCtr="0" anchor="t" bIns="0" lIns="101600" spcFirstLastPara="1" rIns="0" wrap="square" tIns="5080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FFFFFF"/>
                </a:solidFill>
                <a:latin typeface="Arial"/>
                <a:ea typeface="Arial"/>
                <a:cs typeface="Arial"/>
                <a:sym typeface="Arial"/>
              </a:rPr>
              <a:t>EXTERNAL</a:t>
            </a:r>
            <a:endParaRPr/>
          </a:p>
        </p:txBody>
      </p:sp>
      <p:sp>
        <p:nvSpPr>
          <p:cNvPr id="211" name="Google Shape;211;p20"/>
          <p:cNvSpPr txBox="1"/>
          <p:nvPr/>
        </p:nvSpPr>
        <p:spPr>
          <a:xfrm>
            <a:off x="762000" y="3886200"/>
            <a:ext cx="4381500" cy="711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1A2A8C"/>
                </a:solidFill>
                <a:latin typeface="Arial"/>
                <a:ea typeface="Arial"/>
                <a:cs typeface="Arial"/>
                <a:sym typeface="Arial"/>
              </a:rPr>
              <a:t>The AI Answer Era: How Physicians Win in 2026</a:t>
            </a:r>
            <a:endParaRPr/>
          </a:p>
        </p:txBody>
      </p:sp>
      <p:sp>
        <p:nvSpPr>
          <p:cNvPr id="212" name="Google Shape;212;p20"/>
          <p:cNvSpPr txBox="1"/>
          <p:nvPr/>
        </p:nvSpPr>
        <p:spPr>
          <a:xfrm>
            <a:off x="8458200" y="190500"/>
            <a:ext cx="548640" cy="304800"/>
          </a:xfrm>
          <a:prstGeom prst="rect">
            <a:avLst/>
          </a:prstGeom>
          <a:noFill/>
          <a:ln>
            <a:noFill/>
          </a:ln>
        </p:spPr>
        <p:txBody>
          <a:bodyPr anchorCtr="0" anchor="t" bIns="0" lIns="0" spcFirstLastPara="1" rIns="91425" wrap="square" tIns="0">
            <a:noAutofit/>
          </a:bodyPr>
          <a:lstStyle/>
          <a:p>
            <a:pPr indent="0" lvl="0" marL="0" marR="0" rtl="0" algn="r">
              <a:lnSpc>
                <a:spcPct val="100000"/>
              </a:lnSpc>
              <a:spcBef>
                <a:spcPts val="0"/>
              </a:spcBef>
              <a:spcAft>
                <a:spcPts val="0"/>
              </a:spcAft>
              <a:buClr>
                <a:srgbClr val="000000"/>
              </a:buClr>
              <a:buSzPts val="1200"/>
              <a:buFont typeface="Arial"/>
              <a:buNone/>
            </a:pPr>
            <a:r>
              <a:rPr b="1" i="0" lang="en" sz="1200" u="none" cap="none" strike="noStrike">
                <a:solidFill>
                  <a:srgbClr val="00157C"/>
                </a:solidFill>
                <a:latin typeface="Arial"/>
                <a:ea typeface="Arial"/>
                <a:cs typeface="Arial"/>
                <a:sym typeface="Arial"/>
              </a:rPr>
              <a:t>14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21"/>
          <p:cNvPicPr preferRelativeResize="0"/>
          <p:nvPr/>
        </p:nvPicPr>
        <p:blipFill rotWithShape="1">
          <a:blip r:embed="rId3">
            <a:alphaModFix/>
          </a:blip>
          <a:srcRect b="0" l="0" r="0" t="0"/>
          <a:stretch/>
        </p:blipFill>
        <p:spPr>
          <a:xfrm>
            <a:off x="-1" y="0"/>
            <a:ext cx="9144000" cy="5143499"/>
          </a:xfrm>
          <a:prstGeom prst="rect">
            <a:avLst/>
          </a:prstGeom>
          <a:noFill/>
          <a:ln>
            <a:noFill/>
          </a:ln>
        </p:spPr>
      </p:pic>
      <p:pic>
        <p:nvPicPr>
          <p:cNvPr id="218" name="Google Shape;218;p21" title="Logo.png"/>
          <p:cNvPicPr preferRelativeResize="0"/>
          <p:nvPr/>
        </p:nvPicPr>
        <p:blipFill rotWithShape="1">
          <a:blip r:embed="rId4">
            <a:alphaModFix/>
          </a:blip>
          <a:srcRect b="0" l="0" r="0" t="0"/>
          <a:stretch/>
        </p:blipFill>
        <p:spPr>
          <a:xfrm>
            <a:off x="3712850" y="2375825"/>
            <a:ext cx="1718301" cy="391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